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Ultra-Bold" charset="1" panose="00000900000000000000"/>
      <p:regular r:id="rId21"/>
    </p:embeddedFont>
    <p:embeddedFont>
      <p:font typeface="Poppins" charset="1" panose="00000500000000000000"/>
      <p:regular r:id="rId22"/>
    </p:embeddedFont>
    <p:embeddedFont>
      <p:font typeface="Poppins Bold" charset="1" panose="00000800000000000000"/>
      <p:regular r:id="rId23"/>
    </p:embeddedFont>
    <p:embeddedFont>
      <p:font typeface="Bricolage Grotesque" charset="1" panose="020B0605040402000204"/>
      <p:regular r:id="rId24"/>
    </p:embeddedFont>
    <p:embeddedFont>
      <p:font typeface="Arimo" charset="1" panose="020B0604020202020204"/>
      <p:regular r:id="rId25"/>
    </p:embeddedFont>
    <p:embeddedFont>
      <p:font typeface="Bricolage Grotesque Medium" charset="1" panose="020B0605040402000204"/>
      <p:regular r:id="rId26"/>
    </p:embeddedFont>
    <p:embeddedFont>
      <p:font typeface="Bricolage Grotesque Bold" charset="1" panose="020B0605040402000204"/>
      <p:regular r:id="rId27"/>
    </p:embeddedFont>
    <p:embeddedFont>
      <p:font typeface="Proxima Nova Bold" charset="1" panose="02000506030000020004"/>
      <p:regular r:id="rId28"/>
    </p:embeddedFont>
    <p:embeddedFont>
      <p:font typeface="Proxima Nova" charset="1" panose="0200050603000002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13" Target="../media/image49.png" Type="http://schemas.openxmlformats.org/officeDocument/2006/relationships/image"/><Relationship Id="rId14" Target="../media/image50.svg" Type="http://schemas.openxmlformats.org/officeDocument/2006/relationships/image"/><Relationship Id="rId15" Target="../media/image51.png" Type="http://schemas.openxmlformats.org/officeDocument/2006/relationships/image"/><Relationship Id="rId16" Target="../media/image52.svg" Type="http://schemas.openxmlformats.org/officeDocument/2006/relationships/image"/><Relationship Id="rId17" Target="../media/image53.png" Type="http://schemas.openxmlformats.org/officeDocument/2006/relationships/image"/><Relationship Id="rId18" Target="../media/image54.svg" Type="http://schemas.openxmlformats.org/officeDocument/2006/relationships/image"/><Relationship Id="rId19" Target="../media/image55.png" Type="http://schemas.openxmlformats.org/officeDocument/2006/relationships/image"/><Relationship Id="rId2" Target="../media/image38.png" Type="http://schemas.openxmlformats.org/officeDocument/2006/relationships/image"/><Relationship Id="rId20" Target="../media/image56.svg" Type="http://schemas.openxmlformats.org/officeDocument/2006/relationships/image"/><Relationship Id="rId21" Target="../media/image10.png" Type="http://schemas.openxmlformats.org/officeDocument/2006/relationships/image"/><Relationship Id="rId22" Target="../media/image11.sv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svg" Type="http://schemas.openxmlformats.org/officeDocument/2006/relationships/image"/><Relationship Id="rId12" Target="../media/image68.png" Type="http://schemas.openxmlformats.org/officeDocument/2006/relationships/image"/><Relationship Id="rId13" Target="../media/image69.svg" Type="http://schemas.openxmlformats.org/officeDocument/2006/relationships/image"/><Relationship Id="rId14" Target="../media/image10.png" Type="http://schemas.openxmlformats.org/officeDocument/2006/relationships/image"/><Relationship Id="rId15" Target="../media/image11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1297" y="1859493"/>
            <a:ext cx="10753115" cy="6263905"/>
            <a:chOff x="0" y="0"/>
            <a:chExt cx="2832096" cy="1649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2096" cy="1649753"/>
            </a:xfrm>
            <a:custGeom>
              <a:avLst/>
              <a:gdLst/>
              <a:ahLst/>
              <a:cxnLst/>
              <a:rect r="r" b="b" t="t" l="l"/>
              <a:pathLst>
                <a:path h="1649753" w="2832096">
                  <a:moveTo>
                    <a:pt x="0" y="0"/>
                  </a:moveTo>
                  <a:lnTo>
                    <a:pt x="2832096" y="0"/>
                  </a:lnTo>
                  <a:lnTo>
                    <a:pt x="2832096" y="1649753"/>
                  </a:lnTo>
                  <a:lnTo>
                    <a:pt x="0" y="1649753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832096" cy="1716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096375" y="2370139"/>
            <a:ext cx="1404630" cy="1404630"/>
          </a:xfrm>
          <a:custGeom>
            <a:avLst/>
            <a:gdLst/>
            <a:ahLst/>
            <a:cxnLst/>
            <a:rect r="r" b="b" t="t" l="l"/>
            <a:pathLst>
              <a:path h="1404630" w="1404630">
                <a:moveTo>
                  <a:pt x="0" y="0"/>
                </a:moveTo>
                <a:lnTo>
                  <a:pt x="1404630" y="0"/>
                </a:lnTo>
                <a:lnTo>
                  <a:pt x="1404630" y="1404629"/>
                </a:lnTo>
                <a:lnTo>
                  <a:pt x="0" y="1404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83695"/>
            <a:ext cx="615201" cy="817817"/>
          </a:xfrm>
          <a:custGeom>
            <a:avLst/>
            <a:gdLst/>
            <a:ahLst/>
            <a:cxnLst/>
            <a:rect r="r" b="b" t="t" l="l"/>
            <a:pathLst>
              <a:path h="817817" w="615201">
                <a:moveTo>
                  <a:pt x="0" y="0"/>
                </a:moveTo>
                <a:lnTo>
                  <a:pt x="615201" y="0"/>
                </a:lnTo>
                <a:lnTo>
                  <a:pt x="615201" y="817817"/>
                </a:lnTo>
                <a:lnTo>
                  <a:pt x="0" y="817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051655" y="0"/>
            <a:ext cx="7236345" cy="10002367"/>
            <a:chOff x="0" y="0"/>
            <a:chExt cx="2700830" cy="37331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0830" cy="3733197"/>
            </a:xfrm>
            <a:custGeom>
              <a:avLst/>
              <a:gdLst/>
              <a:ahLst/>
              <a:cxnLst/>
              <a:rect r="r" b="b" t="t" l="l"/>
              <a:pathLst>
                <a:path h="3733197" w="2700830">
                  <a:moveTo>
                    <a:pt x="0" y="0"/>
                  </a:moveTo>
                  <a:lnTo>
                    <a:pt x="2700830" y="0"/>
                  </a:lnTo>
                  <a:lnTo>
                    <a:pt x="2700830" y="3733197"/>
                  </a:lnTo>
                  <a:lnTo>
                    <a:pt x="0" y="3733197"/>
                  </a:lnTo>
                  <a:close/>
                </a:path>
              </a:pathLst>
            </a:custGeom>
            <a:blipFill>
              <a:blip r:embed="rId6"/>
              <a:stretch>
                <a:fillRect l="-41292" t="0" r="-4507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51297" y="9143488"/>
            <a:ext cx="10753115" cy="858879"/>
            <a:chOff x="0" y="0"/>
            <a:chExt cx="2832096" cy="2262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32096" cy="226207"/>
            </a:xfrm>
            <a:custGeom>
              <a:avLst/>
              <a:gdLst/>
              <a:ahLst/>
              <a:cxnLst/>
              <a:rect r="r" b="b" t="t" l="l"/>
              <a:pathLst>
                <a:path h="226207" w="2832096">
                  <a:moveTo>
                    <a:pt x="0" y="0"/>
                  </a:moveTo>
                  <a:lnTo>
                    <a:pt x="2832096" y="0"/>
                  </a:lnTo>
                  <a:lnTo>
                    <a:pt x="2832096" y="226207"/>
                  </a:lnTo>
                  <a:lnTo>
                    <a:pt x="0" y="226207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832096" cy="292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06379" y="4336282"/>
            <a:ext cx="9251297" cy="135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7"/>
              </a:lnSpc>
            </a:pPr>
            <a:r>
              <a:rPr lang="en-US" sz="5087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DIGITAL  GROWTH  </a:t>
            </a:r>
          </a:p>
          <a:p>
            <a:pPr algn="l">
              <a:lnSpc>
                <a:spcPts val="5087"/>
              </a:lnSpc>
            </a:pPr>
            <a:r>
              <a:rPr lang="en-US" sz="5087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STRATEGY   FOR   KODU PADS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1297" y="6458683"/>
            <a:ext cx="9806379" cy="89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Building Awareness, Trust, Community &amp; Sustainable Growth</a:t>
            </a:r>
          </a:p>
          <a:p>
            <a:pPr algn="l">
              <a:lnSpc>
                <a:spcPts val="379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43901" y="962025"/>
            <a:ext cx="251550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24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KODU PADS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111782"/>
            <a:ext cx="18288000" cy="1184743"/>
            <a:chOff x="0" y="0"/>
            <a:chExt cx="4816593" cy="312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12031"/>
            </a:xfrm>
            <a:custGeom>
              <a:avLst/>
              <a:gdLst/>
              <a:ahLst/>
              <a:cxnLst/>
              <a:rect r="r" b="b" t="t" l="l"/>
              <a:pathLst>
                <a:path h="3120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12031"/>
                  </a:lnTo>
                  <a:lnTo>
                    <a:pt x="0" y="312031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378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08811" y="0"/>
            <a:ext cx="2579189" cy="858879"/>
            <a:chOff x="0" y="0"/>
            <a:chExt cx="679293" cy="2262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293" cy="226207"/>
            </a:xfrm>
            <a:custGeom>
              <a:avLst/>
              <a:gdLst/>
              <a:ahLst/>
              <a:cxnLst/>
              <a:rect r="r" b="b" t="t" l="l"/>
              <a:pathLst>
                <a:path h="226207" w="679293">
                  <a:moveTo>
                    <a:pt x="0" y="0"/>
                  </a:moveTo>
                  <a:lnTo>
                    <a:pt x="679293" y="0"/>
                  </a:lnTo>
                  <a:lnTo>
                    <a:pt x="679293" y="226207"/>
                  </a:lnTo>
                  <a:lnTo>
                    <a:pt x="0" y="226207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679293" cy="292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71799" y="299949"/>
            <a:ext cx="238684" cy="317294"/>
          </a:xfrm>
          <a:custGeom>
            <a:avLst/>
            <a:gdLst/>
            <a:ahLst/>
            <a:cxnLst/>
            <a:rect r="r" b="b" t="t" l="l"/>
            <a:pathLst>
              <a:path h="317294" w="238684">
                <a:moveTo>
                  <a:pt x="0" y="0"/>
                </a:moveTo>
                <a:lnTo>
                  <a:pt x="238684" y="0"/>
                </a:lnTo>
                <a:lnTo>
                  <a:pt x="238684" y="317294"/>
                </a:lnTo>
                <a:lnTo>
                  <a:pt x="0" y="317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9096" y="305781"/>
            <a:ext cx="211113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24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KODU PADS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00828" y="617243"/>
            <a:ext cx="10816708" cy="54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5"/>
              </a:lnSpc>
            </a:pPr>
            <a:r>
              <a:rPr lang="en-US" sz="360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25979" y="1906529"/>
            <a:ext cx="9371748" cy="143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Kodu Technology is a Ghanaian social enterprise focused on creating  sustainable menstural products from agricultural waste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9804" y="4076867"/>
            <a:ext cx="5622049" cy="263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PRODUCT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Biodegradable sanitary pads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Made using banana and plantain fibres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Positioned around affordability, sustainability and menstrual-health access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Sold through selected physical stockists and online/WhatsApp ordering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711853" y="3998361"/>
            <a:ext cx="5495688" cy="231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OPPORTUNITY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Kodu already has a strong story and differentiated product.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challenge is turning that differentiation into: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Awareness → Trust → Easy access → Purchase → Repeat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35721" y="4076867"/>
            <a:ext cx="5622049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RECOMMEND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Educate before selling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 sustainability + local innovation as differentiators</a:t>
            </a:r>
          </a:p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•Make enquiries, purchase and partnership steps easy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20968"/>
            <a:ext cx="8603015" cy="1075557"/>
            <a:chOff x="0" y="0"/>
            <a:chExt cx="2265815" cy="2832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5815" cy="283274"/>
            </a:xfrm>
            <a:custGeom>
              <a:avLst/>
              <a:gdLst/>
              <a:ahLst/>
              <a:cxnLst/>
              <a:rect r="r" b="b" t="t" l="l"/>
              <a:pathLst>
                <a:path h="283274" w="2265815">
                  <a:moveTo>
                    <a:pt x="0" y="0"/>
                  </a:moveTo>
                  <a:lnTo>
                    <a:pt x="2265815" y="0"/>
                  </a:lnTo>
                  <a:lnTo>
                    <a:pt x="2265815" y="283274"/>
                  </a:lnTo>
                  <a:lnTo>
                    <a:pt x="0" y="283274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265815" cy="349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603015" y="2439650"/>
            <a:ext cx="2823043" cy="5790638"/>
            <a:chOff x="0" y="0"/>
            <a:chExt cx="437363" cy="897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363" cy="897121"/>
            </a:xfrm>
            <a:custGeom>
              <a:avLst/>
              <a:gdLst/>
              <a:ahLst/>
              <a:cxnLst/>
              <a:rect r="r" b="b" t="t" l="l"/>
              <a:pathLst>
                <a:path h="897121" w="437363">
                  <a:moveTo>
                    <a:pt x="0" y="0"/>
                  </a:moveTo>
                  <a:lnTo>
                    <a:pt x="437363" y="0"/>
                  </a:lnTo>
                  <a:lnTo>
                    <a:pt x="437363" y="897121"/>
                  </a:lnTo>
                  <a:lnTo>
                    <a:pt x="0" y="897121"/>
                  </a:lnTo>
                  <a:close/>
                </a:path>
              </a:pathLst>
            </a:custGeom>
            <a:blipFill>
              <a:blip r:embed="rId2"/>
              <a:stretch>
                <a:fillRect l="0" t="-2671" r="0" b="-267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603015" y="0"/>
            <a:ext cx="9684985" cy="982477"/>
            <a:chOff x="0" y="0"/>
            <a:chExt cx="2550778" cy="2587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50778" cy="258759"/>
            </a:xfrm>
            <a:custGeom>
              <a:avLst/>
              <a:gdLst/>
              <a:ahLst/>
              <a:cxnLst/>
              <a:rect r="r" b="b" t="t" l="l"/>
              <a:pathLst>
                <a:path h="258759" w="2550778">
                  <a:moveTo>
                    <a:pt x="0" y="0"/>
                  </a:moveTo>
                  <a:lnTo>
                    <a:pt x="2550778" y="0"/>
                  </a:lnTo>
                  <a:lnTo>
                    <a:pt x="2550778" y="258759"/>
                  </a:lnTo>
                  <a:lnTo>
                    <a:pt x="0" y="258759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550778" cy="325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71799" y="299949"/>
            <a:ext cx="238684" cy="317294"/>
          </a:xfrm>
          <a:custGeom>
            <a:avLst/>
            <a:gdLst/>
            <a:ahLst/>
            <a:cxnLst/>
            <a:rect r="r" b="b" t="t" l="l"/>
            <a:pathLst>
              <a:path h="317294" w="238684">
                <a:moveTo>
                  <a:pt x="0" y="0"/>
                </a:moveTo>
                <a:lnTo>
                  <a:pt x="238684" y="0"/>
                </a:lnTo>
                <a:lnTo>
                  <a:pt x="238684" y="317294"/>
                </a:lnTo>
                <a:lnTo>
                  <a:pt x="0" y="317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033986" y="2439650"/>
            <a:ext cx="2823043" cy="5790638"/>
            <a:chOff x="0" y="0"/>
            <a:chExt cx="437363" cy="897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7363" cy="897121"/>
            </a:xfrm>
            <a:custGeom>
              <a:avLst/>
              <a:gdLst/>
              <a:ahLst/>
              <a:cxnLst/>
              <a:rect r="r" b="b" t="t" l="l"/>
              <a:pathLst>
                <a:path h="897121" w="437363">
                  <a:moveTo>
                    <a:pt x="0" y="0"/>
                  </a:moveTo>
                  <a:lnTo>
                    <a:pt x="437363" y="0"/>
                  </a:lnTo>
                  <a:lnTo>
                    <a:pt x="437363" y="897121"/>
                  </a:lnTo>
                  <a:lnTo>
                    <a:pt x="0" y="897121"/>
                  </a:lnTo>
                  <a:close/>
                </a:path>
              </a:pathLst>
            </a:custGeom>
            <a:blipFill>
              <a:blip r:embed="rId5"/>
              <a:stretch>
                <a:fillRect l="0" t="-2671" r="0" b="-267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275770" y="2439650"/>
            <a:ext cx="2823043" cy="5790638"/>
            <a:chOff x="0" y="0"/>
            <a:chExt cx="437363" cy="8971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7363" cy="897121"/>
            </a:xfrm>
            <a:custGeom>
              <a:avLst/>
              <a:gdLst/>
              <a:ahLst/>
              <a:cxnLst/>
              <a:rect r="r" b="b" t="t" l="l"/>
              <a:pathLst>
                <a:path h="897121" w="437363">
                  <a:moveTo>
                    <a:pt x="0" y="0"/>
                  </a:moveTo>
                  <a:lnTo>
                    <a:pt x="437363" y="0"/>
                  </a:lnTo>
                  <a:lnTo>
                    <a:pt x="437363" y="897121"/>
                  </a:lnTo>
                  <a:lnTo>
                    <a:pt x="0" y="897121"/>
                  </a:lnTo>
                  <a:close/>
                </a:path>
              </a:pathLst>
            </a:custGeom>
            <a:blipFill>
              <a:blip r:embed="rId6"/>
              <a:stretch>
                <a:fillRect l="0" t="-2671" r="0" b="-267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99096" y="324831"/>
            <a:ext cx="1592297" cy="27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9" spc="1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KODU PADS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1799" y="1198297"/>
            <a:ext cx="8131216" cy="52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347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CHANNELS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1799" y="2950288"/>
            <a:ext cx="7491616" cy="388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Kodu pads is doing quite well on Facebook, TikTok and Instagram.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Has no Google Business Profile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WhatsApp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Current role: Customer/order channel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Current problem: The account appears under an individual's name and provides little immediate information about Kodu pads</a:t>
            </a: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Website: provides product information and directs customers toward WhatsApp ordering</a:t>
            </a:r>
          </a:p>
          <a:p>
            <a:pPr algn="just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799" y="299949"/>
            <a:ext cx="238684" cy="317294"/>
          </a:xfrm>
          <a:custGeom>
            <a:avLst/>
            <a:gdLst/>
            <a:ahLst/>
            <a:cxnLst/>
            <a:rect r="r" b="b" t="t" l="l"/>
            <a:pathLst>
              <a:path h="317294" w="238684">
                <a:moveTo>
                  <a:pt x="0" y="0"/>
                </a:moveTo>
                <a:lnTo>
                  <a:pt x="238684" y="0"/>
                </a:lnTo>
                <a:lnTo>
                  <a:pt x="238684" y="317294"/>
                </a:lnTo>
                <a:lnTo>
                  <a:pt x="0" y="317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9096" y="3273650"/>
            <a:ext cx="8741717" cy="5964348"/>
          </a:xfrm>
          <a:custGeom>
            <a:avLst/>
            <a:gdLst/>
            <a:ahLst/>
            <a:cxnLst/>
            <a:rect r="r" b="b" t="t" l="l"/>
            <a:pathLst>
              <a:path h="5964348" w="8741717">
                <a:moveTo>
                  <a:pt x="0" y="0"/>
                </a:moveTo>
                <a:lnTo>
                  <a:pt x="8741717" y="0"/>
                </a:lnTo>
                <a:lnTo>
                  <a:pt x="8741717" y="5964348"/>
                </a:lnTo>
                <a:lnTo>
                  <a:pt x="0" y="5964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084540" y="5176203"/>
            <a:ext cx="7174760" cy="3086100"/>
            <a:chOff x="0" y="0"/>
            <a:chExt cx="1889649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9649" cy="812800"/>
            </a:xfrm>
            <a:custGeom>
              <a:avLst/>
              <a:gdLst/>
              <a:ahLst/>
              <a:cxnLst/>
              <a:rect r="r" b="b" t="t" l="l"/>
              <a:pathLst>
                <a:path h="812800" w="1889649">
                  <a:moveTo>
                    <a:pt x="0" y="0"/>
                  </a:moveTo>
                  <a:lnTo>
                    <a:pt x="1889649" y="0"/>
                  </a:lnTo>
                  <a:lnTo>
                    <a:pt x="188964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ADC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89649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99096" y="324831"/>
            <a:ext cx="1592297" cy="27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9" spc="1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KODU PADS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574103"/>
            <a:ext cx="7527889" cy="98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1"/>
              </a:lnSpc>
            </a:pPr>
            <a:r>
              <a:rPr lang="en-US" sz="340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ANALYSIS</a:t>
            </a:r>
          </a:p>
          <a:p>
            <a:pPr algn="l">
              <a:lnSpc>
                <a:spcPts val="374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16111" y="5057775"/>
            <a:ext cx="694047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16111" y="5797548"/>
            <a:ext cx="694047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052914" y="3172142"/>
            <a:ext cx="6235452" cy="200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KEY COMPETITORS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Yazz — strong awareness and market presence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Softcare — affordability and availability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Propa — local competition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Always / Kotex — established international brands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036915" y="5567045"/>
            <a:ext cx="6949232" cy="261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IMPLICATION FOR KODU</a:t>
            </a:r>
          </a:p>
          <a:p>
            <a:pPr algn="ctr">
              <a:lnSpc>
                <a:spcPts val="2519"/>
              </a:lnSpc>
            </a:pP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 not compete only on price.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 not rely on sustainability alone.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Make product benefits clear and credible.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Build a distinctive local innovation story.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Validate competitor price, distribution and digital activity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52400" y="152400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2846243" y="1733621"/>
                </a:moveTo>
                <a:lnTo>
                  <a:pt x="0" y="1733621"/>
                </a:lnTo>
                <a:lnTo>
                  <a:pt x="0" y="0"/>
                </a:lnTo>
                <a:lnTo>
                  <a:pt x="2846243" y="0"/>
                </a:lnTo>
                <a:lnTo>
                  <a:pt x="2846243" y="173362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2194583"/>
          <a:ext cx="16230600" cy="6934805"/>
        </p:xfrm>
        <a:graphic>
          <a:graphicData uri="http://schemas.openxmlformats.org/drawingml/2006/table">
            <a:tbl>
              <a:tblPr/>
              <a:tblGrid>
                <a:gridCol w="4057650"/>
                <a:gridCol w="4057650"/>
                <a:gridCol w="4057650"/>
                <a:gridCol w="4057650"/>
              </a:tblGrid>
              <a:tr h="20945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360"/>
                        </a:lnSpc>
                      </a:pPr>
                    </a:p>
                    <a:p>
                      <a:pPr algn="ctr">
                        <a:lnSpc>
                          <a:spcPts val="3360"/>
                        </a:lnSpc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Strengths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5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360"/>
                        </a:lnSpc>
                      </a:pPr>
                    </a:p>
                    <a:p>
                      <a:pPr algn="ctr">
                        <a:lnSpc>
                          <a:spcPts val="3360"/>
                        </a:lnSpc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Weaknesses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ADC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360"/>
                        </a:lnSpc>
                      </a:pPr>
                    </a:p>
                    <a:p>
                      <a:pPr algn="ctr">
                        <a:lnSpc>
                          <a:spcPts val="3360"/>
                        </a:lnSpc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Opportunities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BA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360"/>
                        </a:lnSpc>
                      </a:pPr>
                    </a:p>
                    <a:p>
                      <a:pPr algn="ctr">
                        <a:lnSpc>
                          <a:spcPts val="3360"/>
                        </a:lnSpc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Threats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7C2A"/>
                    </a:solidFill>
                  </a:tcPr>
                </a:tc>
              </a:tr>
              <a:tr h="4840233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spc="26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Unique agricultural-waste innovation</a:t>
                      </a:r>
                      <a:endParaRPr lang="en-US" sz="1100"/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6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Sustainable product proposition </a:t>
                      </a:r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6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Strong social-impact story</a:t>
                      </a:r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6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Ghanaian production </a:t>
                      </a:r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6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Awards &amp; institutional credibility</a:t>
                      </a:r>
                    </a:p>
                    <a:p>
                      <a:pPr algn="l" marL="388620" indent="-194310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6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education can improve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Limited distribution     </a:t>
                      </a:r>
                      <a:endParaRPr lang="en-US" sz="1100"/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Weak digital purchase journey  </a:t>
                      </a:r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No Google Business Profile</a:t>
                      </a:r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WhatsApp not optimised as a business channel  </a:t>
                      </a:r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Consumer-facing product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Growing sustainability awareness</a:t>
                      </a:r>
                      <a:endParaRPr lang="en-US" sz="1100"/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TikTok/short-form education</a:t>
                      </a:r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Digital nationwide ordering</a:t>
                      </a:r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Schools/NGOs/CSR partnerships</a:t>
                      </a:r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Retail/pharmacy expansion   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Established menstrual-care brands        </a:t>
                      </a:r>
                      <a:endParaRPr lang="en-US" sz="1100"/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Strong competitor distribution</a:t>
                      </a:r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Price competition </a:t>
                      </a:r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Consumer scepticism about product claims </a:t>
                      </a:r>
                    </a:p>
                    <a:p>
                      <a:pPr algn="l" marL="388622" indent="-194311" lvl="1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spc="27">
                          <a:solidFill>
                            <a:srgbClr val="0A396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Competing eco-friendly products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37C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922267" y="1028700"/>
            <a:ext cx="2331766" cy="233176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699"/>
                </a:lnSpc>
              </a:pPr>
              <a:r>
                <a:rPr lang="en-US" b="true" sz="6699">
                  <a:solidFill>
                    <a:srgbClr val="37C9EF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959458" y="1028700"/>
            <a:ext cx="2331766" cy="23317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C92D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699"/>
                </a:lnSpc>
              </a:pPr>
              <a:r>
                <a:rPr lang="en-US" b="true" sz="6699">
                  <a:solidFill>
                    <a:srgbClr val="2C92D5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96198" y="1028700"/>
            <a:ext cx="2331766" cy="233176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37C9E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699"/>
                </a:lnSpc>
              </a:pPr>
              <a:r>
                <a:rPr lang="en-US" b="true" sz="6699">
                  <a:solidFill>
                    <a:srgbClr val="37C9EF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32939" y="1028700"/>
            <a:ext cx="2331766" cy="23317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C92D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699"/>
                </a:lnSpc>
              </a:pPr>
              <a:r>
                <a:rPr lang="en-US" b="true" sz="6699">
                  <a:solidFill>
                    <a:srgbClr val="2C92D5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799" y="299949"/>
            <a:ext cx="238684" cy="317294"/>
          </a:xfrm>
          <a:custGeom>
            <a:avLst/>
            <a:gdLst/>
            <a:ahLst/>
            <a:cxnLst/>
            <a:rect r="r" b="b" t="t" l="l"/>
            <a:pathLst>
              <a:path h="317294" w="238684">
                <a:moveTo>
                  <a:pt x="0" y="0"/>
                </a:moveTo>
                <a:lnTo>
                  <a:pt x="238684" y="0"/>
                </a:lnTo>
                <a:lnTo>
                  <a:pt x="238684" y="317294"/>
                </a:lnTo>
                <a:lnTo>
                  <a:pt x="0" y="317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3127" y="9746407"/>
            <a:ext cx="4929041" cy="540593"/>
            <a:chOff x="0" y="0"/>
            <a:chExt cx="1298184" cy="1423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8184" cy="142378"/>
            </a:xfrm>
            <a:custGeom>
              <a:avLst/>
              <a:gdLst/>
              <a:ahLst/>
              <a:cxnLst/>
              <a:rect r="r" b="b" t="t" l="l"/>
              <a:pathLst>
                <a:path h="142378" w="1298184">
                  <a:moveTo>
                    <a:pt x="0" y="0"/>
                  </a:moveTo>
                  <a:lnTo>
                    <a:pt x="1298184" y="0"/>
                  </a:lnTo>
                  <a:lnTo>
                    <a:pt x="1298184" y="142378"/>
                  </a:lnTo>
                  <a:lnTo>
                    <a:pt x="0" y="142378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298184" cy="209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434052" y="778283"/>
            <a:ext cx="8454559" cy="510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435" b="true">
                <a:solidFill>
                  <a:srgbClr val="0A396D"/>
                </a:solidFill>
                <a:latin typeface="Poppins Bold"/>
                <a:ea typeface="Poppins Bold"/>
                <a:cs typeface="Poppins Bold"/>
                <a:sym typeface="Poppins Bold"/>
              </a:rPr>
              <a:t>MARKETING OBJECTIVES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391393" y="1469399"/>
          <a:ext cx="12953221" cy="8096250"/>
        </p:xfrm>
        <a:graphic>
          <a:graphicData uri="http://schemas.openxmlformats.org/drawingml/2006/table">
            <a:tbl>
              <a:tblPr/>
              <a:tblGrid>
                <a:gridCol w="4789922"/>
                <a:gridCol w="8163299"/>
              </a:tblGrid>
              <a:tr h="8974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Digital Marketing Goal</a:t>
                      </a:r>
                      <a:r>
                        <a:rPr lang="en-US" sz="2200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5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                         KPIs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5FF"/>
                    </a:solidFill>
                  </a:tcPr>
                </a:tc>
              </a:tr>
              <a:tr h="12125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Increase online brand awareness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250+ new followers each month across platforms</a:t>
                      </a:r>
                      <a:endParaRPr lang="en-US" sz="1100"/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10,000+ people reached each month 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84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Increase audience engagement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5%+ average engagement rate each month</a:t>
                      </a:r>
                      <a:endParaRPr lang="en-US" sz="1100"/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500+ monthly content interactions 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47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Increase website visibility and traffic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20%+ increase in organic website traffic within 6 months</a:t>
                      </a:r>
                      <a:endParaRPr lang="en-US" sz="1100"/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500+ monthly website visits from social media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47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Generate qualified digital leads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250+ qualified enquiries each month</a:t>
                      </a:r>
                      <a:endParaRPr lang="en-US" sz="1100"/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150+ WhatsApp enquiries each month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84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</a:t>
                      </a:r>
                      <a:r>
                        <a:rPr lang="en-US" sz="1799" strike="noStrike" u="non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rive digital conversions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800+ individual units sold each month</a:t>
                      </a:r>
                      <a:endParaRPr lang="en-US" sz="1100"/>
                    </a:p>
                    <a:p>
                      <a:pPr algn="l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25+ bulk boxes sold each month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98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Build an engaged digital community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20%+ of followers actively engaging each month* </a:t>
                      </a:r>
                      <a:endParaRPr lang="en-US" sz="1100"/>
                    </a:p>
                    <a:p>
                      <a:pPr algn="l">
                        <a:lnSpc>
                          <a:spcPts val="2379"/>
                        </a:lnSpc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20%+ repeat purchase rate within 6 months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flipH="true" flipV="true" rot="0">
            <a:off x="0" y="0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2846243" y="1733621"/>
                </a:moveTo>
                <a:lnTo>
                  <a:pt x="0" y="1733621"/>
                </a:lnTo>
                <a:lnTo>
                  <a:pt x="0" y="0"/>
                </a:lnTo>
                <a:lnTo>
                  <a:pt x="2846243" y="0"/>
                </a:lnTo>
                <a:lnTo>
                  <a:pt x="2846243" y="17336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44614" y="8553379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0"/>
                </a:moveTo>
                <a:lnTo>
                  <a:pt x="2846243" y="0"/>
                </a:lnTo>
                <a:lnTo>
                  <a:pt x="2846243" y="1733621"/>
                </a:lnTo>
                <a:lnTo>
                  <a:pt x="0" y="1733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3127" y="9258300"/>
            <a:ext cx="6677804" cy="1028700"/>
            <a:chOff x="0" y="0"/>
            <a:chExt cx="175876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8763" cy="270933"/>
            </a:xfrm>
            <a:custGeom>
              <a:avLst/>
              <a:gdLst/>
              <a:ahLst/>
              <a:cxnLst/>
              <a:rect r="r" b="b" t="t" l="l"/>
              <a:pathLst>
                <a:path h="270933" w="1758763">
                  <a:moveTo>
                    <a:pt x="0" y="0"/>
                  </a:moveTo>
                  <a:lnTo>
                    <a:pt x="1758763" y="0"/>
                  </a:lnTo>
                  <a:lnTo>
                    <a:pt x="175876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758763" cy="337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35206" y="0"/>
            <a:ext cx="12852794" cy="617243"/>
            <a:chOff x="0" y="0"/>
            <a:chExt cx="3385098" cy="1625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85098" cy="162566"/>
            </a:xfrm>
            <a:custGeom>
              <a:avLst/>
              <a:gdLst/>
              <a:ahLst/>
              <a:cxnLst/>
              <a:rect r="r" b="b" t="t" l="l"/>
              <a:pathLst>
                <a:path h="162566" w="3385098">
                  <a:moveTo>
                    <a:pt x="0" y="0"/>
                  </a:moveTo>
                  <a:lnTo>
                    <a:pt x="3385098" y="0"/>
                  </a:lnTo>
                  <a:lnTo>
                    <a:pt x="3385098" y="162566"/>
                  </a:lnTo>
                  <a:lnTo>
                    <a:pt x="0" y="162566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385098" cy="229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95245" y="1828004"/>
            <a:ext cx="15664055" cy="7430296"/>
          </a:xfrm>
          <a:custGeom>
            <a:avLst/>
            <a:gdLst/>
            <a:ahLst/>
            <a:cxnLst/>
            <a:rect r="r" b="b" t="t" l="l"/>
            <a:pathLst>
              <a:path h="7430296" w="15664055">
                <a:moveTo>
                  <a:pt x="0" y="0"/>
                </a:moveTo>
                <a:lnTo>
                  <a:pt x="15664055" y="0"/>
                </a:lnTo>
                <a:lnTo>
                  <a:pt x="15664055" y="7430296"/>
                </a:lnTo>
                <a:lnTo>
                  <a:pt x="0" y="7430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39" t="-40810" r="-3897" b="-1510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70813" y="904875"/>
            <a:ext cx="7838547" cy="75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7"/>
              </a:lnSpc>
            </a:pPr>
            <a:r>
              <a:rPr lang="en-US" sz="4148" b="true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TARGETED AUDIENCE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9938" y="1708403"/>
            <a:ext cx="5071780" cy="4287959"/>
          </a:xfrm>
          <a:custGeom>
            <a:avLst/>
            <a:gdLst/>
            <a:ahLst/>
            <a:cxnLst/>
            <a:rect r="r" b="b" t="t" l="l"/>
            <a:pathLst>
              <a:path h="4287959" w="5071780">
                <a:moveTo>
                  <a:pt x="0" y="0"/>
                </a:moveTo>
                <a:lnTo>
                  <a:pt x="5071780" y="0"/>
                </a:lnTo>
                <a:lnTo>
                  <a:pt x="5071780" y="4287959"/>
                </a:lnTo>
                <a:lnTo>
                  <a:pt x="0" y="4287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5887" y="1708403"/>
            <a:ext cx="5071780" cy="4287959"/>
          </a:xfrm>
          <a:custGeom>
            <a:avLst/>
            <a:gdLst/>
            <a:ahLst/>
            <a:cxnLst/>
            <a:rect r="r" b="b" t="t" l="l"/>
            <a:pathLst>
              <a:path h="4287959" w="5071780">
                <a:moveTo>
                  <a:pt x="0" y="0"/>
                </a:moveTo>
                <a:lnTo>
                  <a:pt x="5071779" y="0"/>
                </a:lnTo>
                <a:lnTo>
                  <a:pt x="5071779" y="4287959"/>
                </a:lnTo>
                <a:lnTo>
                  <a:pt x="0" y="4287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50846" y="1708403"/>
            <a:ext cx="5071780" cy="4287959"/>
          </a:xfrm>
          <a:custGeom>
            <a:avLst/>
            <a:gdLst/>
            <a:ahLst/>
            <a:cxnLst/>
            <a:rect r="r" b="b" t="t" l="l"/>
            <a:pathLst>
              <a:path h="4287959" w="5071780">
                <a:moveTo>
                  <a:pt x="0" y="0"/>
                </a:moveTo>
                <a:lnTo>
                  <a:pt x="5071780" y="0"/>
                </a:lnTo>
                <a:lnTo>
                  <a:pt x="5071780" y="4287959"/>
                </a:lnTo>
                <a:lnTo>
                  <a:pt x="0" y="4287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301042" y="5149660"/>
            <a:ext cx="943935" cy="952351"/>
            <a:chOff x="0" y="0"/>
            <a:chExt cx="812800" cy="8200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20047"/>
            </a:xfrm>
            <a:custGeom>
              <a:avLst/>
              <a:gdLst/>
              <a:ahLst/>
              <a:cxnLst/>
              <a:rect r="r" b="b" t="t" l="l"/>
              <a:pathLst>
                <a:path h="820047" w="812800">
                  <a:moveTo>
                    <a:pt x="406400" y="0"/>
                  </a:moveTo>
                  <a:cubicBezTo>
                    <a:pt x="181951" y="0"/>
                    <a:pt x="0" y="183574"/>
                    <a:pt x="0" y="410024"/>
                  </a:cubicBezTo>
                  <a:cubicBezTo>
                    <a:pt x="0" y="636474"/>
                    <a:pt x="181951" y="820047"/>
                    <a:pt x="406400" y="820047"/>
                  </a:cubicBezTo>
                  <a:cubicBezTo>
                    <a:pt x="630849" y="820047"/>
                    <a:pt x="812800" y="636474"/>
                    <a:pt x="812800" y="410024"/>
                  </a:cubicBezTo>
                  <a:cubicBezTo>
                    <a:pt x="812800" y="18357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0C5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729"/>
              <a:ext cx="660400" cy="723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97552" y="5244380"/>
            <a:ext cx="943935" cy="952351"/>
            <a:chOff x="0" y="0"/>
            <a:chExt cx="812800" cy="8200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20047"/>
            </a:xfrm>
            <a:custGeom>
              <a:avLst/>
              <a:gdLst/>
              <a:ahLst/>
              <a:cxnLst/>
              <a:rect r="r" b="b" t="t" l="l"/>
              <a:pathLst>
                <a:path h="820047" w="812800">
                  <a:moveTo>
                    <a:pt x="406400" y="0"/>
                  </a:moveTo>
                  <a:cubicBezTo>
                    <a:pt x="181951" y="0"/>
                    <a:pt x="0" y="183574"/>
                    <a:pt x="0" y="410024"/>
                  </a:cubicBezTo>
                  <a:cubicBezTo>
                    <a:pt x="0" y="636474"/>
                    <a:pt x="181951" y="820047"/>
                    <a:pt x="406400" y="820047"/>
                  </a:cubicBezTo>
                  <a:cubicBezTo>
                    <a:pt x="630849" y="820047"/>
                    <a:pt x="812800" y="636474"/>
                    <a:pt x="812800" y="410024"/>
                  </a:cubicBezTo>
                  <a:cubicBezTo>
                    <a:pt x="812800" y="18357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285E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729"/>
              <a:ext cx="660400" cy="723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492" y="6558290"/>
            <a:ext cx="2525580" cy="3604241"/>
            <a:chOff x="0" y="0"/>
            <a:chExt cx="665173" cy="9492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5173" cy="949265"/>
            </a:xfrm>
            <a:custGeom>
              <a:avLst/>
              <a:gdLst/>
              <a:ahLst/>
              <a:cxnLst/>
              <a:rect r="r" b="b" t="t" l="l"/>
              <a:pathLst>
                <a:path h="949265" w="665173">
                  <a:moveTo>
                    <a:pt x="70504" y="0"/>
                  </a:moveTo>
                  <a:lnTo>
                    <a:pt x="594669" y="0"/>
                  </a:lnTo>
                  <a:cubicBezTo>
                    <a:pt x="613368" y="0"/>
                    <a:pt x="631301" y="7428"/>
                    <a:pt x="644523" y="20650"/>
                  </a:cubicBezTo>
                  <a:cubicBezTo>
                    <a:pt x="657745" y="33872"/>
                    <a:pt x="665173" y="51805"/>
                    <a:pt x="665173" y="70504"/>
                  </a:cubicBezTo>
                  <a:lnTo>
                    <a:pt x="665173" y="878761"/>
                  </a:lnTo>
                  <a:cubicBezTo>
                    <a:pt x="665173" y="917699"/>
                    <a:pt x="633607" y="949265"/>
                    <a:pt x="594669" y="949265"/>
                  </a:cubicBezTo>
                  <a:lnTo>
                    <a:pt x="70504" y="949265"/>
                  </a:lnTo>
                  <a:cubicBezTo>
                    <a:pt x="51805" y="949265"/>
                    <a:pt x="33872" y="941837"/>
                    <a:pt x="20650" y="928615"/>
                  </a:cubicBezTo>
                  <a:cubicBezTo>
                    <a:pt x="7428" y="915393"/>
                    <a:pt x="0" y="897460"/>
                    <a:pt x="0" y="878761"/>
                  </a:cubicBezTo>
                  <a:lnTo>
                    <a:pt x="0" y="70504"/>
                  </a:lnTo>
                  <a:cubicBezTo>
                    <a:pt x="0" y="51805"/>
                    <a:pt x="7428" y="33872"/>
                    <a:pt x="20650" y="20650"/>
                  </a:cubicBezTo>
                  <a:cubicBezTo>
                    <a:pt x="33872" y="7428"/>
                    <a:pt x="51805" y="0"/>
                    <a:pt x="70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65173" cy="99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06729" y="6558290"/>
            <a:ext cx="2525580" cy="3604241"/>
            <a:chOff x="0" y="0"/>
            <a:chExt cx="665173" cy="9492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5173" cy="949265"/>
            </a:xfrm>
            <a:custGeom>
              <a:avLst/>
              <a:gdLst/>
              <a:ahLst/>
              <a:cxnLst/>
              <a:rect r="r" b="b" t="t" l="l"/>
              <a:pathLst>
                <a:path h="949265" w="665173">
                  <a:moveTo>
                    <a:pt x="70504" y="0"/>
                  </a:moveTo>
                  <a:lnTo>
                    <a:pt x="594669" y="0"/>
                  </a:lnTo>
                  <a:cubicBezTo>
                    <a:pt x="613368" y="0"/>
                    <a:pt x="631301" y="7428"/>
                    <a:pt x="644523" y="20650"/>
                  </a:cubicBezTo>
                  <a:cubicBezTo>
                    <a:pt x="657745" y="33872"/>
                    <a:pt x="665173" y="51805"/>
                    <a:pt x="665173" y="70504"/>
                  </a:cubicBezTo>
                  <a:lnTo>
                    <a:pt x="665173" y="878761"/>
                  </a:lnTo>
                  <a:cubicBezTo>
                    <a:pt x="665173" y="917699"/>
                    <a:pt x="633607" y="949265"/>
                    <a:pt x="594669" y="949265"/>
                  </a:cubicBezTo>
                  <a:lnTo>
                    <a:pt x="70504" y="949265"/>
                  </a:lnTo>
                  <a:cubicBezTo>
                    <a:pt x="51805" y="949265"/>
                    <a:pt x="33872" y="941837"/>
                    <a:pt x="20650" y="928615"/>
                  </a:cubicBezTo>
                  <a:cubicBezTo>
                    <a:pt x="7428" y="915393"/>
                    <a:pt x="0" y="897460"/>
                    <a:pt x="0" y="878761"/>
                  </a:cubicBezTo>
                  <a:lnTo>
                    <a:pt x="0" y="70504"/>
                  </a:lnTo>
                  <a:cubicBezTo>
                    <a:pt x="0" y="51805"/>
                    <a:pt x="7428" y="33872"/>
                    <a:pt x="20650" y="20650"/>
                  </a:cubicBezTo>
                  <a:cubicBezTo>
                    <a:pt x="33872" y="7428"/>
                    <a:pt x="51805" y="0"/>
                    <a:pt x="70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65173" cy="99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95345" y="6558290"/>
            <a:ext cx="2525580" cy="3604241"/>
            <a:chOff x="0" y="0"/>
            <a:chExt cx="665173" cy="9492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5173" cy="949265"/>
            </a:xfrm>
            <a:custGeom>
              <a:avLst/>
              <a:gdLst/>
              <a:ahLst/>
              <a:cxnLst/>
              <a:rect r="r" b="b" t="t" l="l"/>
              <a:pathLst>
                <a:path h="949265" w="665173">
                  <a:moveTo>
                    <a:pt x="70504" y="0"/>
                  </a:moveTo>
                  <a:lnTo>
                    <a:pt x="594669" y="0"/>
                  </a:lnTo>
                  <a:cubicBezTo>
                    <a:pt x="613368" y="0"/>
                    <a:pt x="631301" y="7428"/>
                    <a:pt x="644523" y="20650"/>
                  </a:cubicBezTo>
                  <a:cubicBezTo>
                    <a:pt x="657745" y="33872"/>
                    <a:pt x="665173" y="51805"/>
                    <a:pt x="665173" y="70504"/>
                  </a:cubicBezTo>
                  <a:lnTo>
                    <a:pt x="665173" y="878761"/>
                  </a:lnTo>
                  <a:cubicBezTo>
                    <a:pt x="665173" y="917699"/>
                    <a:pt x="633607" y="949265"/>
                    <a:pt x="594669" y="949265"/>
                  </a:cubicBezTo>
                  <a:lnTo>
                    <a:pt x="70504" y="949265"/>
                  </a:lnTo>
                  <a:cubicBezTo>
                    <a:pt x="51805" y="949265"/>
                    <a:pt x="33872" y="941837"/>
                    <a:pt x="20650" y="928615"/>
                  </a:cubicBezTo>
                  <a:cubicBezTo>
                    <a:pt x="7428" y="915393"/>
                    <a:pt x="0" y="897460"/>
                    <a:pt x="0" y="878761"/>
                  </a:cubicBezTo>
                  <a:lnTo>
                    <a:pt x="0" y="70504"/>
                  </a:lnTo>
                  <a:cubicBezTo>
                    <a:pt x="0" y="51805"/>
                    <a:pt x="7428" y="33872"/>
                    <a:pt x="20650" y="20650"/>
                  </a:cubicBezTo>
                  <a:cubicBezTo>
                    <a:pt x="33872" y="7428"/>
                    <a:pt x="51805" y="0"/>
                    <a:pt x="70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65173" cy="99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84001" y="6562267"/>
            <a:ext cx="2525580" cy="3604241"/>
            <a:chOff x="0" y="0"/>
            <a:chExt cx="665173" cy="9492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5173" cy="949265"/>
            </a:xfrm>
            <a:custGeom>
              <a:avLst/>
              <a:gdLst/>
              <a:ahLst/>
              <a:cxnLst/>
              <a:rect r="r" b="b" t="t" l="l"/>
              <a:pathLst>
                <a:path h="949265" w="665173">
                  <a:moveTo>
                    <a:pt x="70504" y="0"/>
                  </a:moveTo>
                  <a:lnTo>
                    <a:pt x="594669" y="0"/>
                  </a:lnTo>
                  <a:cubicBezTo>
                    <a:pt x="613368" y="0"/>
                    <a:pt x="631301" y="7428"/>
                    <a:pt x="644523" y="20650"/>
                  </a:cubicBezTo>
                  <a:cubicBezTo>
                    <a:pt x="657745" y="33872"/>
                    <a:pt x="665173" y="51805"/>
                    <a:pt x="665173" y="70504"/>
                  </a:cubicBezTo>
                  <a:lnTo>
                    <a:pt x="665173" y="878761"/>
                  </a:lnTo>
                  <a:cubicBezTo>
                    <a:pt x="665173" y="917699"/>
                    <a:pt x="633607" y="949265"/>
                    <a:pt x="594669" y="949265"/>
                  </a:cubicBezTo>
                  <a:lnTo>
                    <a:pt x="70504" y="949265"/>
                  </a:lnTo>
                  <a:cubicBezTo>
                    <a:pt x="51805" y="949265"/>
                    <a:pt x="33872" y="941837"/>
                    <a:pt x="20650" y="928615"/>
                  </a:cubicBezTo>
                  <a:cubicBezTo>
                    <a:pt x="7428" y="915393"/>
                    <a:pt x="0" y="897460"/>
                    <a:pt x="0" y="878761"/>
                  </a:cubicBezTo>
                  <a:lnTo>
                    <a:pt x="0" y="70504"/>
                  </a:lnTo>
                  <a:cubicBezTo>
                    <a:pt x="0" y="51805"/>
                    <a:pt x="7428" y="33872"/>
                    <a:pt x="20650" y="20650"/>
                  </a:cubicBezTo>
                  <a:cubicBezTo>
                    <a:pt x="33872" y="7428"/>
                    <a:pt x="51805" y="0"/>
                    <a:pt x="70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65173" cy="99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90524" y="6562267"/>
            <a:ext cx="2525580" cy="3604241"/>
            <a:chOff x="0" y="0"/>
            <a:chExt cx="665173" cy="9492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5173" cy="949265"/>
            </a:xfrm>
            <a:custGeom>
              <a:avLst/>
              <a:gdLst/>
              <a:ahLst/>
              <a:cxnLst/>
              <a:rect r="r" b="b" t="t" l="l"/>
              <a:pathLst>
                <a:path h="949265" w="665173">
                  <a:moveTo>
                    <a:pt x="70504" y="0"/>
                  </a:moveTo>
                  <a:lnTo>
                    <a:pt x="594669" y="0"/>
                  </a:lnTo>
                  <a:cubicBezTo>
                    <a:pt x="613368" y="0"/>
                    <a:pt x="631301" y="7428"/>
                    <a:pt x="644523" y="20650"/>
                  </a:cubicBezTo>
                  <a:cubicBezTo>
                    <a:pt x="657745" y="33872"/>
                    <a:pt x="665173" y="51805"/>
                    <a:pt x="665173" y="70504"/>
                  </a:cubicBezTo>
                  <a:lnTo>
                    <a:pt x="665173" y="878761"/>
                  </a:lnTo>
                  <a:cubicBezTo>
                    <a:pt x="665173" y="917699"/>
                    <a:pt x="633607" y="949265"/>
                    <a:pt x="594669" y="949265"/>
                  </a:cubicBezTo>
                  <a:lnTo>
                    <a:pt x="70504" y="949265"/>
                  </a:lnTo>
                  <a:cubicBezTo>
                    <a:pt x="51805" y="949265"/>
                    <a:pt x="33872" y="941837"/>
                    <a:pt x="20650" y="928615"/>
                  </a:cubicBezTo>
                  <a:cubicBezTo>
                    <a:pt x="7428" y="915393"/>
                    <a:pt x="0" y="897460"/>
                    <a:pt x="0" y="878761"/>
                  </a:cubicBezTo>
                  <a:lnTo>
                    <a:pt x="0" y="70504"/>
                  </a:lnTo>
                  <a:cubicBezTo>
                    <a:pt x="0" y="51805"/>
                    <a:pt x="7428" y="33872"/>
                    <a:pt x="20650" y="20650"/>
                  </a:cubicBezTo>
                  <a:cubicBezTo>
                    <a:pt x="33872" y="7428"/>
                    <a:pt x="51805" y="0"/>
                    <a:pt x="70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65173" cy="99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397046" y="6558290"/>
            <a:ext cx="2525580" cy="3604241"/>
            <a:chOff x="0" y="0"/>
            <a:chExt cx="665173" cy="9492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5173" cy="949265"/>
            </a:xfrm>
            <a:custGeom>
              <a:avLst/>
              <a:gdLst/>
              <a:ahLst/>
              <a:cxnLst/>
              <a:rect r="r" b="b" t="t" l="l"/>
              <a:pathLst>
                <a:path h="949265" w="665173">
                  <a:moveTo>
                    <a:pt x="70504" y="0"/>
                  </a:moveTo>
                  <a:lnTo>
                    <a:pt x="594669" y="0"/>
                  </a:lnTo>
                  <a:cubicBezTo>
                    <a:pt x="613368" y="0"/>
                    <a:pt x="631301" y="7428"/>
                    <a:pt x="644523" y="20650"/>
                  </a:cubicBezTo>
                  <a:cubicBezTo>
                    <a:pt x="657745" y="33872"/>
                    <a:pt x="665173" y="51805"/>
                    <a:pt x="665173" y="70504"/>
                  </a:cubicBezTo>
                  <a:lnTo>
                    <a:pt x="665173" y="878761"/>
                  </a:lnTo>
                  <a:cubicBezTo>
                    <a:pt x="665173" y="917699"/>
                    <a:pt x="633607" y="949265"/>
                    <a:pt x="594669" y="949265"/>
                  </a:cubicBezTo>
                  <a:lnTo>
                    <a:pt x="70504" y="949265"/>
                  </a:lnTo>
                  <a:cubicBezTo>
                    <a:pt x="51805" y="949265"/>
                    <a:pt x="33872" y="941837"/>
                    <a:pt x="20650" y="928615"/>
                  </a:cubicBezTo>
                  <a:cubicBezTo>
                    <a:pt x="7428" y="915393"/>
                    <a:pt x="0" y="897460"/>
                    <a:pt x="0" y="878761"/>
                  </a:cubicBezTo>
                  <a:lnTo>
                    <a:pt x="0" y="70504"/>
                  </a:lnTo>
                  <a:cubicBezTo>
                    <a:pt x="0" y="51805"/>
                    <a:pt x="7428" y="33872"/>
                    <a:pt x="20650" y="20650"/>
                  </a:cubicBezTo>
                  <a:cubicBezTo>
                    <a:pt x="33872" y="7428"/>
                    <a:pt x="51805" y="0"/>
                    <a:pt x="70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65173" cy="996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 flipH="true">
            <a:off x="2696810" y="6238417"/>
            <a:ext cx="0" cy="530496"/>
          </a:xfrm>
          <a:prstGeom prst="line">
            <a:avLst/>
          </a:prstGeom>
          <a:ln cap="flat" w="47625">
            <a:solidFill>
              <a:srgbClr val="00C5FF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30" id="30"/>
          <p:cNvSpPr/>
          <p:nvPr/>
        </p:nvSpPr>
        <p:spPr>
          <a:xfrm flipH="true">
            <a:off x="5293332" y="6293042"/>
            <a:ext cx="0" cy="530496"/>
          </a:xfrm>
          <a:prstGeom prst="line">
            <a:avLst/>
          </a:prstGeom>
          <a:ln cap="flat" w="47625">
            <a:solidFill>
              <a:srgbClr val="0285E1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7386192" y="5244380"/>
            <a:ext cx="943935" cy="952351"/>
            <a:chOff x="0" y="0"/>
            <a:chExt cx="812800" cy="8200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20047"/>
            </a:xfrm>
            <a:custGeom>
              <a:avLst/>
              <a:gdLst/>
              <a:ahLst/>
              <a:cxnLst/>
              <a:rect r="r" b="b" t="t" l="l"/>
              <a:pathLst>
                <a:path h="820047" w="812800">
                  <a:moveTo>
                    <a:pt x="406400" y="0"/>
                  </a:moveTo>
                  <a:cubicBezTo>
                    <a:pt x="181951" y="0"/>
                    <a:pt x="0" y="183574"/>
                    <a:pt x="0" y="410024"/>
                  </a:cubicBezTo>
                  <a:cubicBezTo>
                    <a:pt x="0" y="636474"/>
                    <a:pt x="181951" y="820047"/>
                    <a:pt x="406400" y="820047"/>
                  </a:cubicBezTo>
                  <a:cubicBezTo>
                    <a:pt x="630849" y="820047"/>
                    <a:pt x="812800" y="636474"/>
                    <a:pt x="812800" y="410024"/>
                  </a:cubicBezTo>
                  <a:cubicBezTo>
                    <a:pt x="812800" y="18357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2C92D5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9729"/>
              <a:ext cx="660400" cy="723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flipH="true">
            <a:off x="7817357" y="6293042"/>
            <a:ext cx="0" cy="530496"/>
          </a:xfrm>
          <a:prstGeom prst="line">
            <a:avLst/>
          </a:prstGeom>
          <a:ln cap="flat" w="47625">
            <a:solidFill>
              <a:srgbClr val="0285E1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9949889" y="5229754"/>
            <a:ext cx="943935" cy="952351"/>
            <a:chOff x="0" y="0"/>
            <a:chExt cx="812800" cy="8200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20047"/>
            </a:xfrm>
            <a:custGeom>
              <a:avLst/>
              <a:gdLst/>
              <a:ahLst/>
              <a:cxnLst/>
              <a:rect r="r" b="b" t="t" l="l"/>
              <a:pathLst>
                <a:path h="820047" w="812800">
                  <a:moveTo>
                    <a:pt x="406400" y="0"/>
                  </a:moveTo>
                  <a:cubicBezTo>
                    <a:pt x="181951" y="0"/>
                    <a:pt x="0" y="183574"/>
                    <a:pt x="0" y="410024"/>
                  </a:cubicBezTo>
                  <a:cubicBezTo>
                    <a:pt x="0" y="636474"/>
                    <a:pt x="181951" y="820047"/>
                    <a:pt x="406400" y="820047"/>
                  </a:cubicBezTo>
                  <a:cubicBezTo>
                    <a:pt x="630849" y="820047"/>
                    <a:pt x="812800" y="636474"/>
                    <a:pt x="812800" y="410024"/>
                  </a:cubicBezTo>
                  <a:cubicBezTo>
                    <a:pt x="812800" y="18357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199CA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19729"/>
              <a:ext cx="660400" cy="723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0446791" y="6262199"/>
            <a:ext cx="0" cy="530496"/>
          </a:xfrm>
          <a:prstGeom prst="line">
            <a:avLst/>
          </a:prstGeom>
          <a:ln cap="flat" w="47625">
            <a:solidFill>
              <a:srgbClr val="37C9EF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12831143" y="5138398"/>
            <a:ext cx="943935" cy="952351"/>
            <a:chOff x="0" y="0"/>
            <a:chExt cx="812800" cy="8200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20047"/>
            </a:xfrm>
            <a:custGeom>
              <a:avLst/>
              <a:gdLst/>
              <a:ahLst/>
              <a:cxnLst/>
              <a:rect r="r" b="b" t="t" l="l"/>
              <a:pathLst>
                <a:path h="820047" w="812800">
                  <a:moveTo>
                    <a:pt x="406400" y="0"/>
                  </a:moveTo>
                  <a:cubicBezTo>
                    <a:pt x="181951" y="0"/>
                    <a:pt x="0" y="183574"/>
                    <a:pt x="0" y="410024"/>
                  </a:cubicBezTo>
                  <a:cubicBezTo>
                    <a:pt x="0" y="636474"/>
                    <a:pt x="181951" y="820047"/>
                    <a:pt x="406400" y="820047"/>
                  </a:cubicBezTo>
                  <a:cubicBezTo>
                    <a:pt x="630849" y="820047"/>
                    <a:pt x="812800" y="636474"/>
                    <a:pt x="812800" y="410024"/>
                  </a:cubicBezTo>
                  <a:cubicBezTo>
                    <a:pt x="812800" y="18357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285E1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19729"/>
              <a:ext cx="660400" cy="723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13303110" y="6090749"/>
            <a:ext cx="0" cy="800963"/>
          </a:xfrm>
          <a:prstGeom prst="line">
            <a:avLst/>
          </a:prstGeom>
          <a:ln cap="flat" w="47625">
            <a:solidFill>
              <a:srgbClr val="0285E1"/>
            </a:solidFill>
            <a:prstDash val="sysDot"/>
            <a:headEnd type="none" len="sm" w="sm"/>
            <a:tailEnd type="oval" len="lg" w="lg"/>
          </a:ln>
        </p:spPr>
      </p:sp>
      <p:grpSp>
        <p:nvGrpSpPr>
          <p:cNvPr name="Group 43" id="43"/>
          <p:cNvGrpSpPr/>
          <p:nvPr/>
        </p:nvGrpSpPr>
        <p:grpSpPr>
          <a:xfrm rot="0">
            <a:off x="15041905" y="5143500"/>
            <a:ext cx="943935" cy="952351"/>
            <a:chOff x="0" y="0"/>
            <a:chExt cx="812800" cy="82004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20047"/>
            </a:xfrm>
            <a:custGeom>
              <a:avLst/>
              <a:gdLst/>
              <a:ahLst/>
              <a:cxnLst/>
              <a:rect r="r" b="b" t="t" l="l"/>
              <a:pathLst>
                <a:path h="820047" w="812800">
                  <a:moveTo>
                    <a:pt x="406400" y="0"/>
                  </a:moveTo>
                  <a:cubicBezTo>
                    <a:pt x="181951" y="0"/>
                    <a:pt x="0" y="183574"/>
                    <a:pt x="0" y="410024"/>
                  </a:cubicBezTo>
                  <a:cubicBezTo>
                    <a:pt x="0" y="636474"/>
                    <a:pt x="181951" y="820047"/>
                    <a:pt x="406400" y="820047"/>
                  </a:cubicBezTo>
                  <a:cubicBezTo>
                    <a:pt x="630849" y="820047"/>
                    <a:pt x="812800" y="636474"/>
                    <a:pt x="812800" y="410024"/>
                  </a:cubicBezTo>
                  <a:cubicBezTo>
                    <a:pt x="812800" y="18357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199CA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19729"/>
              <a:ext cx="660400" cy="723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15513872" y="6188314"/>
            <a:ext cx="0" cy="530496"/>
          </a:xfrm>
          <a:prstGeom prst="line">
            <a:avLst/>
          </a:prstGeom>
          <a:ln cap="flat" w="47625">
            <a:solidFill>
              <a:srgbClr val="0199CA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2114213" y="4239622"/>
            <a:ext cx="1031583" cy="583313"/>
          </a:xfrm>
          <a:custGeom>
            <a:avLst/>
            <a:gdLst/>
            <a:ahLst/>
            <a:cxnLst/>
            <a:rect r="r" b="b" t="t" l="l"/>
            <a:pathLst>
              <a:path h="583313" w="1031583">
                <a:moveTo>
                  <a:pt x="0" y="0"/>
                </a:moveTo>
                <a:lnTo>
                  <a:pt x="1031583" y="0"/>
                </a:lnTo>
                <a:lnTo>
                  <a:pt x="1031583" y="583313"/>
                </a:lnTo>
                <a:lnTo>
                  <a:pt x="0" y="5833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8" id="48"/>
          <p:cNvSpPr/>
          <p:nvPr/>
        </p:nvSpPr>
        <p:spPr>
          <a:xfrm flipH="false" flipV="false" rot="0">
            <a:off x="4880532" y="4176208"/>
            <a:ext cx="710142" cy="710142"/>
          </a:xfrm>
          <a:custGeom>
            <a:avLst/>
            <a:gdLst/>
            <a:ahLst/>
            <a:cxnLst/>
            <a:rect r="r" b="b" t="t" l="l"/>
            <a:pathLst>
              <a:path h="710142" w="710142">
                <a:moveTo>
                  <a:pt x="0" y="0"/>
                </a:moveTo>
                <a:lnTo>
                  <a:pt x="710142" y="0"/>
                </a:lnTo>
                <a:lnTo>
                  <a:pt x="710142" y="710142"/>
                </a:lnTo>
                <a:lnTo>
                  <a:pt x="0" y="7101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2644097" y="4129952"/>
            <a:ext cx="907138" cy="870289"/>
          </a:xfrm>
          <a:custGeom>
            <a:avLst/>
            <a:gdLst/>
            <a:ahLst/>
            <a:cxnLst/>
            <a:rect r="r" b="b" t="t" l="l"/>
            <a:pathLst>
              <a:path h="870289" w="907138">
                <a:moveTo>
                  <a:pt x="0" y="0"/>
                </a:moveTo>
                <a:lnTo>
                  <a:pt x="907138" y="0"/>
                </a:lnTo>
                <a:lnTo>
                  <a:pt x="907138" y="870289"/>
                </a:lnTo>
                <a:lnTo>
                  <a:pt x="0" y="8702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10094311" y="4279371"/>
            <a:ext cx="655090" cy="870289"/>
          </a:xfrm>
          <a:custGeom>
            <a:avLst/>
            <a:gdLst/>
            <a:ahLst/>
            <a:cxnLst/>
            <a:rect r="r" b="b" t="t" l="l"/>
            <a:pathLst>
              <a:path h="870289" w="655090">
                <a:moveTo>
                  <a:pt x="0" y="0"/>
                </a:moveTo>
                <a:lnTo>
                  <a:pt x="655090" y="0"/>
                </a:lnTo>
                <a:lnTo>
                  <a:pt x="655090" y="870289"/>
                </a:lnTo>
                <a:lnTo>
                  <a:pt x="0" y="8702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7550804" y="3954222"/>
            <a:ext cx="580730" cy="1004408"/>
          </a:xfrm>
          <a:custGeom>
            <a:avLst/>
            <a:gdLst/>
            <a:ahLst/>
            <a:cxnLst/>
            <a:rect r="r" b="b" t="t" l="l"/>
            <a:pathLst>
              <a:path h="1004408" w="580730">
                <a:moveTo>
                  <a:pt x="0" y="0"/>
                </a:moveTo>
                <a:lnTo>
                  <a:pt x="580730" y="0"/>
                </a:lnTo>
                <a:lnTo>
                  <a:pt x="580730" y="1004408"/>
                </a:lnTo>
                <a:lnTo>
                  <a:pt x="0" y="10044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15100214" y="4186814"/>
            <a:ext cx="827318" cy="688930"/>
          </a:xfrm>
          <a:custGeom>
            <a:avLst/>
            <a:gdLst/>
            <a:ahLst/>
            <a:cxnLst/>
            <a:rect r="r" b="b" t="t" l="l"/>
            <a:pathLst>
              <a:path h="688930" w="827318">
                <a:moveTo>
                  <a:pt x="0" y="0"/>
                </a:moveTo>
                <a:lnTo>
                  <a:pt x="827317" y="0"/>
                </a:lnTo>
                <a:lnTo>
                  <a:pt x="827317" y="688930"/>
                </a:lnTo>
                <a:lnTo>
                  <a:pt x="0" y="68893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3" id="53"/>
          <p:cNvSpPr txBox="true"/>
          <p:nvPr/>
        </p:nvSpPr>
        <p:spPr>
          <a:xfrm rot="0">
            <a:off x="1509938" y="847725"/>
            <a:ext cx="14639542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MARKETING STRATEGY</a:t>
            </a:r>
          </a:p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1579524" y="7165657"/>
            <a:ext cx="236053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AWARENESS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072890" y="7008495"/>
            <a:ext cx="236053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CONSIDERATION/ EDUCATION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677894" y="7325995"/>
            <a:ext cx="236053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TRUST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336179" y="7305675"/>
            <a:ext cx="2360610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ENQUIRY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1872148" y="7365365"/>
            <a:ext cx="236053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439929" y="7365365"/>
            <a:ext cx="236053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ADVOCACY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27414" y="7640477"/>
            <a:ext cx="1793735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“WHAT IS KODU?”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.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TIKTOK .INSTAGRAM FACEBOOK  CREATORS PAID ADS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4476625" y="7473632"/>
            <a:ext cx="1909171" cy="296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SH</a:t>
            </a: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OULD I CARE?”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MENSTRUAL HEALTH  MATERIALS  SUSTAINABILITY  PRODUCT EDUCATION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6749044" y="7733822"/>
            <a:ext cx="2491885" cy="219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4"/>
              </a:lnSpc>
            </a:pPr>
          </a:p>
          <a:p>
            <a:pPr algn="l">
              <a:lnSpc>
                <a:spcPts val="2484"/>
              </a:lnSpc>
            </a:pPr>
            <a:r>
              <a:rPr lang="en-US" sz="17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 I BELIEVE KODU?”</a:t>
            </a:r>
          </a:p>
          <a:p>
            <a:pPr algn="l" marL="388620" indent="-194310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TESTIMONIALS • DEMONSTRATIONS • EXPERT VOICES • PRODUCT PROOF • PARTNERSHIPS</a:t>
            </a:r>
          </a:p>
          <a:p>
            <a:pPr algn="ctr">
              <a:lnSpc>
                <a:spcPts val="90"/>
              </a:lnSpc>
              <a:spcBef>
                <a:spcPct val="0"/>
              </a:spcBef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9561141" y="7884160"/>
            <a:ext cx="1909171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WHERE CAN I GET IT?”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 • WEBSITE • WHATSAPP • STOCKISTS</a:t>
            </a:r>
          </a:p>
          <a:p>
            <a:pPr algn="l">
              <a:lnSpc>
                <a:spcPts val="2519"/>
              </a:lnSpc>
            </a:pPr>
          </a:p>
        </p:txBody>
      </p:sp>
      <p:sp>
        <p:nvSpPr>
          <p:cNvPr name="TextBox 64" id="64"/>
          <p:cNvSpPr txBox="true"/>
          <p:nvPr/>
        </p:nvSpPr>
        <p:spPr>
          <a:xfrm rot="0">
            <a:off x="11727666" y="7986553"/>
            <a:ext cx="2537961" cy="199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MAKE A PURCHASE.</a:t>
            </a:r>
          </a:p>
          <a:p>
            <a:pPr algn="l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POST-PURCHASE ENGAGEMENT ENHANCES CUSTOMER SATISFACTION, PROMOTES REPEAT TRANSACTIONS, AND BUILDS LOYALTY.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639954" y="7949723"/>
            <a:ext cx="2134817" cy="264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“I CHOSE KODU — YOU SHOULD TOO.”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REVIEWS •</a:t>
            </a:r>
          </a:p>
          <a:p>
            <a:pPr algn="l" marL="388618" indent="-194309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UGC  REFERRALS  COMMUNITY</a:t>
            </a:r>
          </a:p>
          <a:p>
            <a:pPr algn="ctr">
              <a:lnSpc>
                <a:spcPts val="2239"/>
              </a:lnSpc>
            </a:pP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580016" y="871664"/>
          <a:ext cx="12239784" cy="8714870"/>
        </p:xfrm>
        <a:graphic>
          <a:graphicData uri="http://schemas.openxmlformats.org/drawingml/2006/table">
            <a:tbl>
              <a:tblPr/>
              <a:tblGrid>
                <a:gridCol w="3803510"/>
                <a:gridCol w="3803510"/>
                <a:gridCol w="4632764"/>
              </a:tblGrid>
              <a:tr h="849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ricolage Grotesque Medium"/>
                          <a:ea typeface="Bricolage Grotesque Medium"/>
                          <a:cs typeface="Bricolage Grotesque Medium"/>
                          <a:sym typeface="Bricolage Grotesque Medium"/>
                        </a:rPr>
                        <a:t>CHANNEL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2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Bricolage Grotesque"/>
                          <a:ea typeface="Bricolage Grotesque"/>
                          <a:cs typeface="Bricolage Grotesque"/>
                          <a:sym typeface="Bricolage Grotesque"/>
                        </a:rPr>
                        <a:t>KET CONTENT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2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Bricolage Grotesque Bold"/>
                          <a:ea typeface="Bricolage Grotesque Bold"/>
                          <a:cs typeface="Bricolage Grotesque Bold"/>
                          <a:sym typeface="Bricolage Grotesque Bold"/>
                        </a:rPr>
                        <a:t>ROLE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92D5"/>
                    </a:solidFill>
                  </a:tcPr>
                </a:tc>
              </a:tr>
              <a:tr h="12503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Reels &amp; carousels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product stroytelling, Brand building.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Awarenes + trust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03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Answer questions, conversion route, take oders, partnership enquiries.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Conversion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73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Impact, CSR, Case studies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partnerships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03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short educational videos, relatable ontent,Myth vs Fact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Discovery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73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Search+ Maps +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Internet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03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Community,  Parent-focused education,  Campaigns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Reach + community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1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Awareness reach</a:t>
                      </a:r>
                      <a:endParaRPr lang="en-US" sz="1100"/>
                    </a:p>
                    <a:p>
                      <a:pPr algn="ctr">
                        <a:lnSpc>
                          <a:spcPts val="22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Blog post about period hygine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5955962" y="1864255"/>
            <a:ext cx="850860" cy="806306"/>
          </a:xfrm>
          <a:custGeom>
            <a:avLst/>
            <a:gdLst/>
            <a:ahLst/>
            <a:cxnLst/>
            <a:rect r="r" b="b" t="t" l="l"/>
            <a:pathLst>
              <a:path h="806306" w="850860">
                <a:moveTo>
                  <a:pt x="0" y="0"/>
                </a:moveTo>
                <a:lnTo>
                  <a:pt x="850861" y="0"/>
                </a:lnTo>
                <a:lnTo>
                  <a:pt x="850861" y="806306"/>
                </a:lnTo>
                <a:lnTo>
                  <a:pt x="0" y="806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725" t="-53129" r="-100016" b="-6829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50778" y="3054701"/>
            <a:ext cx="1470978" cy="1177503"/>
          </a:xfrm>
          <a:custGeom>
            <a:avLst/>
            <a:gdLst/>
            <a:ahLst/>
            <a:cxnLst/>
            <a:rect r="r" b="b" t="t" l="l"/>
            <a:pathLst>
              <a:path h="1177503" w="1470978">
                <a:moveTo>
                  <a:pt x="0" y="0"/>
                </a:moveTo>
                <a:lnTo>
                  <a:pt x="1470978" y="0"/>
                </a:lnTo>
                <a:lnTo>
                  <a:pt x="1470978" y="1177503"/>
                </a:lnTo>
                <a:lnTo>
                  <a:pt x="0" y="1177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689" t="-1959" r="-24573" b="-2151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65109" y="4166062"/>
            <a:ext cx="842317" cy="977311"/>
          </a:xfrm>
          <a:custGeom>
            <a:avLst/>
            <a:gdLst/>
            <a:ahLst/>
            <a:cxnLst/>
            <a:rect r="r" b="b" t="t" l="l"/>
            <a:pathLst>
              <a:path h="977311" w="842317">
                <a:moveTo>
                  <a:pt x="0" y="0"/>
                </a:moveTo>
                <a:lnTo>
                  <a:pt x="842317" y="0"/>
                </a:lnTo>
                <a:lnTo>
                  <a:pt x="842317" y="977312"/>
                </a:lnTo>
                <a:lnTo>
                  <a:pt x="0" y="977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7381" t="-23059" r="-89193" b="-3585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2134" y="5310007"/>
            <a:ext cx="1088266" cy="902754"/>
          </a:xfrm>
          <a:custGeom>
            <a:avLst/>
            <a:gdLst/>
            <a:ahLst/>
            <a:cxnLst/>
            <a:rect r="r" b="b" t="t" l="l"/>
            <a:pathLst>
              <a:path h="902754" w="1088266">
                <a:moveTo>
                  <a:pt x="0" y="0"/>
                </a:moveTo>
                <a:lnTo>
                  <a:pt x="1088266" y="0"/>
                </a:lnTo>
                <a:lnTo>
                  <a:pt x="1088266" y="902754"/>
                </a:lnTo>
                <a:lnTo>
                  <a:pt x="0" y="902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5098" t="-45870" r="-78198" b="-6573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65109" y="6374686"/>
            <a:ext cx="935724" cy="838477"/>
          </a:xfrm>
          <a:custGeom>
            <a:avLst/>
            <a:gdLst/>
            <a:ahLst/>
            <a:cxnLst/>
            <a:rect r="r" b="b" t="t" l="l"/>
            <a:pathLst>
              <a:path h="838477" w="935724">
                <a:moveTo>
                  <a:pt x="0" y="0"/>
                </a:moveTo>
                <a:lnTo>
                  <a:pt x="935723" y="0"/>
                </a:lnTo>
                <a:lnTo>
                  <a:pt x="935723" y="838477"/>
                </a:lnTo>
                <a:lnTo>
                  <a:pt x="0" y="8384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5165" t="-15426" r="-53326" b="-3968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65109" y="7386868"/>
            <a:ext cx="1064664" cy="907425"/>
          </a:xfrm>
          <a:custGeom>
            <a:avLst/>
            <a:gdLst/>
            <a:ahLst/>
            <a:cxnLst/>
            <a:rect r="r" b="b" t="t" l="l"/>
            <a:pathLst>
              <a:path h="907425" w="1064664">
                <a:moveTo>
                  <a:pt x="0" y="0"/>
                </a:moveTo>
                <a:lnTo>
                  <a:pt x="1064663" y="0"/>
                </a:lnTo>
                <a:lnTo>
                  <a:pt x="1064663" y="907425"/>
                </a:lnTo>
                <a:lnTo>
                  <a:pt x="0" y="907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2650" t="-18183" r="-46575" b="-3764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41757" y="8553379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0"/>
                </a:moveTo>
                <a:lnTo>
                  <a:pt x="2846243" y="0"/>
                </a:lnTo>
                <a:lnTo>
                  <a:pt x="2846243" y="1733621"/>
                </a:lnTo>
                <a:lnTo>
                  <a:pt x="0" y="17336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2400" y="147705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2846243" y="1733620"/>
                </a:moveTo>
                <a:lnTo>
                  <a:pt x="0" y="1733620"/>
                </a:lnTo>
                <a:lnTo>
                  <a:pt x="0" y="0"/>
                </a:lnTo>
                <a:lnTo>
                  <a:pt x="2846243" y="0"/>
                </a:lnTo>
                <a:lnTo>
                  <a:pt x="2846243" y="173362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69171" y="8553379"/>
            <a:ext cx="1138254" cy="868620"/>
          </a:xfrm>
          <a:custGeom>
            <a:avLst/>
            <a:gdLst/>
            <a:ahLst/>
            <a:cxnLst/>
            <a:rect r="r" b="b" t="t" l="l"/>
            <a:pathLst>
              <a:path h="868620" w="1138254">
                <a:moveTo>
                  <a:pt x="0" y="0"/>
                </a:moveTo>
                <a:lnTo>
                  <a:pt x="1138255" y="0"/>
                </a:lnTo>
                <a:lnTo>
                  <a:pt x="1138255" y="868620"/>
                </a:lnTo>
                <a:lnTo>
                  <a:pt x="0" y="868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0002" t="-31696" r="-22029" b="-3113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682009" y="29844"/>
            <a:ext cx="7599781" cy="81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PLATFORM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STRATEGY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2486467" y="2362047"/>
            <a:ext cx="3344656" cy="1674061"/>
          </a:xfrm>
          <a:custGeom>
            <a:avLst/>
            <a:gdLst/>
            <a:ahLst/>
            <a:cxnLst/>
            <a:rect r="r" b="b" t="t" l="l"/>
            <a:pathLst>
              <a:path h="1674061" w="3344656">
                <a:moveTo>
                  <a:pt x="0" y="606582"/>
                </a:moveTo>
                <a:lnTo>
                  <a:pt x="0" y="228600"/>
                </a:lnTo>
                <a:cubicBezTo>
                  <a:pt x="0" y="167971"/>
                  <a:pt x="24085" y="109826"/>
                  <a:pt x="66955" y="66955"/>
                </a:cubicBezTo>
                <a:cubicBezTo>
                  <a:pt x="109826" y="24084"/>
                  <a:pt x="167972" y="0"/>
                  <a:pt x="228600" y="0"/>
                </a:cubicBezTo>
                <a:lnTo>
                  <a:pt x="1704357" y="0"/>
                </a:lnTo>
                <a:cubicBezTo>
                  <a:pt x="1830609" y="0"/>
                  <a:pt x="1932957" y="102347"/>
                  <a:pt x="1932957" y="228600"/>
                </a:cubicBezTo>
                <a:lnTo>
                  <a:pt x="1932957" y="497143"/>
                </a:lnTo>
                <a:cubicBezTo>
                  <a:pt x="1932957" y="623395"/>
                  <a:pt x="2035304" y="725743"/>
                  <a:pt x="2161557" y="725743"/>
                </a:cubicBezTo>
                <a:lnTo>
                  <a:pt x="3116056" y="725743"/>
                </a:lnTo>
                <a:cubicBezTo>
                  <a:pt x="3176685" y="725743"/>
                  <a:pt x="3234830" y="749827"/>
                  <a:pt x="3277701" y="792698"/>
                </a:cubicBezTo>
                <a:cubicBezTo>
                  <a:pt x="3320572" y="835569"/>
                  <a:pt x="3344656" y="893714"/>
                  <a:pt x="3344656" y="954343"/>
                </a:cubicBezTo>
                <a:lnTo>
                  <a:pt x="3344656" y="1674060"/>
                </a:lnTo>
              </a:path>
            </a:pathLst>
          </a:custGeom>
          <a:ln cap="rnd" w="28575">
            <a:solidFill>
              <a:srgbClr val="C7D2D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>
            <a:off x="5831123" y="3346422"/>
            <a:ext cx="3344656" cy="1362311"/>
          </a:xfrm>
          <a:custGeom>
            <a:avLst/>
            <a:gdLst/>
            <a:ahLst/>
            <a:cxnLst/>
            <a:rect r="r" b="b" t="t" l="l"/>
            <a:pathLst>
              <a:path h="1362311" w="3344656">
                <a:moveTo>
                  <a:pt x="3344656" y="1362310"/>
                </a:moveTo>
                <a:lnTo>
                  <a:pt x="3344656" y="228600"/>
                </a:lnTo>
                <a:cubicBezTo>
                  <a:pt x="3344656" y="102347"/>
                  <a:pt x="3242308" y="0"/>
                  <a:pt x="3116056" y="0"/>
                </a:cubicBezTo>
                <a:lnTo>
                  <a:pt x="228600" y="0"/>
                </a:lnTo>
                <a:cubicBezTo>
                  <a:pt x="167972" y="0"/>
                  <a:pt x="109826" y="24084"/>
                  <a:pt x="66955" y="66955"/>
                </a:cubicBezTo>
                <a:cubicBezTo>
                  <a:pt x="24085" y="109826"/>
                  <a:pt x="0" y="167971"/>
                  <a:pt x="0" y="228600"/>
                </a:cubicBezTo>
                <a:lnTo>
                  <a:pt x="0" y="689685"/>
                </a:lnTo>
              </a:path>
            </a:pathLst>
          </a:custGeom>
          <a:ln cap="rnd" w="28575">
            <a:solidFill>
              <a:srgbClr val="C7D2D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9175779" y="3346422"/>
            <a:ext cx="3344656" cy="1362311"/>
          </a:xfrm>
          <a:custGeom>
            <a:avLst/>
            <a:gdLst/>
            <a:ahLst/>
            <a:cxnLst/>
            <a:rect r="r" b="b" t="t" l="l"/>
            <a:pathLst>
              <a:path h="1362311" w="3344656">
                <a:moveTo>
                  <a:pt x="0" y="1362310"/>
                </a:move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2" y="0"/>
                  <a:pt x="228600" y="0"/>
                </a:cubicBezTo>
                <a:lnTo>
                  <a:pt x="3116057" y="0"/>
                </a:lnTo>
                <a:cubicBezTo>
                  <a:pt x="3242309" y="0"/>
                  <a:pt x="3344657" y="102347"/>
                  <a:pt x="3344657" y="228600"/>
                </a:cubicBezTo>
                <a:lnTo>
                  <a:pt x="3344657" y="689685"/>
                </a:lnTo>
              </a:path>
            </a:pathLst>
          </a:custGeom>
          <a:ln cap="rnd" w="28575">
            <a:solidFill>
              <a:srgbClr val="C7D2D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12520436" y="2362047"/>
            <a:ext cx="3344656" cy="1674061"/>
          </a:xfrm>
          <a:custGeom>
            <a:avLst/>
            <a:gdLst/>
            <a:ahLst/>
            <a:cxnLst/>
            <a:rect r="r" b="b" t="t" l="l"/>
            <a:pathLst>
              <a:path h="1674061" w="3344656">
                <a:moveTo>
                  <a:pt x="3344656" y="606582"/>
                </a:moveTo>
                <a:lnTo>
                  <a:pt x="3344656" y="228600"/>
                </a:lnTo>
                <a:cubicBezTo>
                  <a:pt x="3344656" y="167971"/>
                  <a:pt x="3320572" y="109826"/>
                  <a:pt x="3277700" y="66955"/>
                </a:cubicBezTo>
                <a:cubicBezTo>
                  <a:pt x="3234830" y="24084"/>
                  <a:pt x="3176685" y="0"/>
                  <a:pt x="3116056" y="0"/>
                </a:cubicBezTo>
                <a:lnTo>
                  <a:pt x="1562404" y="0"/>
                </a:lnTo>
                <a:cubicBezTo>
                  <a:pt x="1436151" y="0"/>
                  <a:pt x="1333804" y="102347"/>
                  <a:pt x="1333804" y="228600"/>
                </a:cubicBezTo>
                <a:lnTo>
                  <a:pt x="1333804" y="497143"/>
                </a:lnTo>
                <a:cubicBezTo>
                  <a:pt x="1333804" y="623395"/>
                  <a:pt x="1231456" y="725743"/>
                  <a:pt x="1105204" y="725743"/>
                </a:cubicBezTo>
                <a:lnTo>
                  <a:pt x="228600" y="725743"/>
                </a:lnTo>
                <a:cubicBezTo>
                  <a:pt x="167971" y="725743"/>
                  <a:pt x="109826" y="749827"/>
                  <a:pt x="66955" y="792698"/>
                </a:cubicBezTo>
                <a:cubicBezTo>
                  <a:pt x="24084" y="835569"/>
                  <a:pt x="0" y="893714"/>
                  <a:pt x="0" y="954343"/>
                </a:cubicBezTo>
                <a:lnTo>
                  <a:pt x="0" y="1674060"/>
                </a:lnTo>
              </a:path>
            </a:pathLst>
          </a:custGeom>
          <a:ln cap="rnd" w="28575">
            <a:solidFill>
              <a:srgbClr val="C7D2D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2153670" y="6271320"/>
            <a:ext cx="665593" cy="2698215"/>
          </a:xfrm>
          <a:custGeom>
            <a:avLst/>
            <a:gdLst/>
            <a:ahLst/>
            <a:cxnLst/>
            <a:rect r="r" b="b" t="t" l="l"/>
            <a:pathLst>
              <a:path h="2698215" w="665593">
                <a:moveTo>
                  <a:pt x="0" y="0"/>
                </a:moveTo>
                <a:lnTo>
                  <a:pt x="665594" y="0"/>
                </a:lnTo>
                <a:lnTo>
                  <a:pt x="665594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5532296" y="6271320"/>
            <a:ext cx="665593" cy="2698215"/>
          </a:xfrm>
          <a:custGeom>
            <a:avLst/>
            <a:gdLst/>
            <a:ahLst/>
            <a:cxnLst/>
            <a:rect r="r" b="b" t="t" l="l"/>
            <a:pathLst>
              <a:path h="2698215" w="665593">
                <a:moveTo>
                  <a:pt x="0" y="0"/>
                </a:moveTo>
                <a:lnTo>
                  <a:pt x="665593" y="0"/>
                </a:lnTo>
                <a:lnTo>
                  <a:pt x="665593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5498327" y="7242802"/>
            <a:ext cx="665593" cy="2698215"/>
          </a:xfrm>
          <a:custGeom>
            <a:avLst/>
            <a:gdLst/>
            <a:ahLst/>
            <a:cxnLst/>
            <a:rect r="r" b="b" t="t" l="l"/>
            <a:pathLst>
              <a:path h="2698215" w="665593">
                <a:moveTo>
                  <a:pt x="0" y="0"/>
                </a:moveTo>
                <a:lnTo>
                  <a:pt x="665593" y="0"/>
                </a:lnTo>
                <a:lnTo>
                  <a:pt x="665593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2187639" y="7242802"/>
            <a:ext cx="665593" cy="2698215"/>
          </a:xfrm>
          <a:custGeom>
            <a:avLst/>
            <a:gdLst/>
            <a:ahLst/>
            <a:cxnLst/>
            <a:rect r="r" b="b" t="t" l="l"/>
            <a:pathLst>
              <a:path h="2698215" w="665593">
                <a:moveTo>
                  <a:pt x="0" y="0"/>
                </a:moveTo>
                <a:lnTo>
                  <a:pt x="665594" y="0"/>
                </a:lnTo>
                <a:lnTo>
                  <a:pt x="665594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37359" y="3616430"/>
            <a:ext cx="2698215" cy="3861701"/>
            <a:chOff x="0" y="0"/>
            <a:chExt cx="698680" cy="9999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8680" cy="999955"/>
            </a:xfrm>
            <a:custGeom>
              <a:avLst/>
              <a:gdLst/>
              <a:ahLst/>
              <a:cxnLst/>
              <a:rect r="r" b="b" t="t" l="l"/>
              <a:pathLst>
                <a:path h="999955" w="698680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16059" y="2667000"/>
            <a:ext cx="2940815" cy="1879860"/>
          </a:xfrm>
          <a:custGeom>
            <a:avLst/>
            <a:gdLst/>
            <a:ahLst/>
            <a:cxnLst/>
            <a:rect r="r" b="b" t="t" l="l"/>
            <a:pathLst>
              <a:path h="1879860" w="2940815">
                <a:moveTo>
                  <a:pt x="0" y="0"/>
                </a:moveTo>
                <a:lnTo>
                  <a:pt x="2940816" y="0"/>
                </a:lnTo>
                <a:lnTo>
                  <a:pt x="2940816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482016" y="4587912"/>
            <a:ext cx="2698215" cy="3861701"/>
            <a:chOff x="0" y="0"/>
            <a:chExt cx="698680" cy="9999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680" cy="999955"/>
            </a:xfrm>
            <a:custGeom>
              <a:avLst/>
              <a:gdLst/>
              <a:ahLst/>
              <a:cxnLst/>
              <a:rect r="r" b="b" t="t" l="l"/>
              <a:pathLst>
                <a:path h="999955" w="698680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360716" y="3638482"/>
            <a:ext cx="2940815" cy="1879860"/>
          </a:xfrm>
          <a:custGeom>
            <a:avLst/>
            <a:gdLst/>
            <a:ahLst/>
            <a:cxnLst/>
            <a:rect r="r" b="b" t="t" l="l"/>
            <a:pathLst>
              <a:path h="1879860" w="2940815">
                <a:moveTo>
                  <a:pt x="0" y="0"/>
                </a:moveTo>
                <a:lnTo>
                  <a:pt x="2940815" y="0"/>
                </a:lnTo>
                <a:lnTo>
                  <a:pt x="2940815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5400000">
            <a:off x="3548062" y="2258905"/>
            <a:ext cx="238125" cy="208359"/>
            <a:chOff x="0" y="0"/>
            <a:chExt cx="812800" cy="711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4692312" y="2258905"/>
            <a:ext cx="238125" cy="208359"/>
            <a:chOff x="0" y="0"/>
            <a:chExt cx="812800" cy="711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4926282" y="2983512"/>
            <a:ext cx="238125" cy="208359"/>
            <a:chOff x="0" y="0"/>
            <a:chExt cx="812800" cy="711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5400000">
            <a:off x="13115877" y="2983512"/>
            <a:ext cx="238125" cy="208359"/>
            <a:chOff x="0" y="0"/>
            <a:chExt cx="812800" cy="711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5400000">
            <a:off x="7450635" y="3241817"/>
            <a:ext cx="238125" cy="208359"/>
            <a:chOff x="0" y="0"/>
            <a:chExt cx="8128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5400000">
            <a:off x="10694850" y="3241817"/>
            <a:ext cx="238125" cy="208359"/>
            <a:chOff x="0" y="0"/>
            <a:chExt cx="812800" cy="711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171328" y="4587912"/>
            <a:ext cx="2698215" cy="3861701"/>
            <a:chOff x="0" y="0"/>
            <a:chExt cx="698680" cy="9999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8680" cy="999955"/>
            </a:xfrm>
            <a:custGeom>
              <a:avLst/>
              <a:gdLst/>
              <a:ahLst/>
              <a:cxnLst/>
              <a:rect r="r" b="b" t="t" l="l"/>
              <a:pathLst>
                <a:path h="999955" w="698680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1050028" y="3638482"/>
            <a:ext cx="2940815" cy="1879860"/>
          </a:xfrm>
          <a:custGeom>
            <a:avLst/>
            <a:gdLst/>
            <a:ahLst/>
            <a:cxnLst/>
            <a:rect r="r" b="b" t="t" l="l"/>
            <a:pathLst>
              <a:path h="1879860" w="2940815">
                <a:moveTo>
                  <a:pt x="0" y="0"/>
                </a:moveTo>
                <a:lnTo>
                  <a:pt x="2940816" y="0"/>
                </a:lnTo>
                <a:lnTo>
                  <a:pt x="2940816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4515985" y="3616430"/>
            <a:ext cx="2698215" cy="3861701"/>
            <a:chOff x="0" y="0"/>
            <a:chExt cx="698680" cy="9999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8680" cy="999955"/>
            </a:xfrm>
            <a:custGeom>
              <a:avLst/>
              <a:gdLst/>
              <a:ahLst/>
              <a:cxnLst/>
              <a:rect r="r" b="b" t="t" l="l"/>
              <a:pathLst>
                <a:path h="999955" w="698680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4394685" y="2667000"/>
            <a:ext cx="2940815" cy="1879860"/>
          </a:xfrm>
          <a:custGeom>
            <a:avLst/>
            <a:gdLst/>
            <a:ahLst/>
            <a:cxnLst/>
            <a:rect r="r" b="b" t="t" l="l"/>
            <a:pathLst>
              <a:path h="1879860" w="2940815">
                <a:moveTo>
                  <a:pt x="0" y="0"/>
                </a:moveTo>
                <a:lnTo>
                  <a:pt x="2940815" y="0"/>
                </a:lnTo>
                <a:lnTo>
                  <a:pt x="2940815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266557" y="2873379"/>
            <a:ext cx="439820" cy="428625"/>
          </a:xfrm>
          <a:custGeom>
            <a:avLst/>
            <a:gdLst/>
            <a:ahLst/>
            <a:cxnLst/>
            <a:rect r="r" b="b" t="t" l="l"/>
            <a:pathLst>
              <a:path h="428625" w="439820">
                <a:moveTo>
                  <a:pt x="0" y="0"/>
                </a:moveTo>
                <a:lnTo>
                  <a:pt x="439820" y="0"/>
                </a:lnTo>
                <a:lnTo>
                  <a:pt x="43982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5658115" y="3884515"/>
            <a:ext cx="346017" cy="428625"/>
          </a:xfrm>
          <a:custGeom>
            <a:avLst/>
            <a:gdLst/>
            <a:ahLst/>
            <a:cxnLst/>
            <a:rect r="r" b="b" t="t" l="l"/>
            <a:pathLst>
              <a:path h="428625" w="346017">
                <a:moveTo>
                  <a:pt x="0" y="0"/>
                </a:moveTo>
                <a:lnTo>
                  <a:pt x="346017" y="0"/>
                </a:lnTo>
                <a:lnTo>
                  <a:pt x="346017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12312748" y="3884515"/>
            <a:ext cx="415377" cy="428625"/>
          </a:xfrm>
          <a:custGeom>
            <a:avLst/>
            <a:gdLst/>
            <a:ahLst/>
            <a:cxnLst/>
            <a:rect r="r" b="b" t="t" l="l"/>
            <a:pathLst>
              <a:path h="428625" w="415377">
                <a:moveTo>
                  <a:pt x="0" y="0"/>
                </a:moveTo>
                <a:lnTo>
                  <a:pt x="415376" y="0"/>
                </a:lnTo>
                <a:lnTo>
                  <a:pt x="415376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15603155" y="2937673"/>
            <a:ext cx="523875" cy="300038"/>
          </a:xfrm>
          <a:custGeom>
            <a:avLst/>
            <a:gdLst/>
            <a:ahLst/>
            <a:cxnLst/>
            <a:rect r="r" b="b" t="t" l="l"/>
            <a:pathLst>
              <a:path h="300038" w="523875">
                <a:moveTo>
                  <a:pt x="0" y="0"/>
                </a:moveTo>
                <a:lnTo>
                  <a:pt x="523875" y="0"/>
                </a:lnTo>
                <a:lnTo>
                  <a:pt x="523875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8" id="48"/>
          <p:cNvSpPr txBox="true"/>
          <p:nvPr/>
        </p:nvSpPr>
        <p:spPr>
          <a:xfrm rot="0">
            <a:off x="1318526" y="4466500"/>
            <a:ext cx="23358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EDUCATE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702740" y="6031390"/>
            <a:ext cx="2335882" cy="165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PRODUCT CONFIDENCE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PRODUCT FEATURES, ABSORBENCY DEMONSTRATIONS, PACKAGING,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8084" y="5273405"/>
            <a:ext cx="2335882" cy="16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4465" indent="-147233" lvl="1">
              <a:lnSpc>
                <a:spcPts val="1909"/>
              </a:lnSpc>
              <a:buFont typeface="Arial"/>
              <a:buChar char="•"/>
            </a:pPr>
            <a:r>
              <a:rPr lang="en-US" sz="1363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MENSTRUAL-HEALTH EDUCATION</a:t>
            </a:r>
          </a:p>
          <a:p>
            <a:pPr algn="l" marL="294465" indent="-147233" lvl="1">
              <a:lnSpc>
                <a:spcPts val="1909"/>
              </a:lnSpc>
              <a:buFont typeface="Arial"/>
              <a:buChar char="•"/>
            </a:pPr>
            <a:r>
              <a:rPr lang="en-US" sz="1363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PERIOD </a:t>
            </a:r>
            <a:r>
              <a:rPr lang="en-US" sz="1363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HYGIENE, CHANGING PADS, MANAGING PERIODS AT SCHOOL.</a:t>
            </a:r>
          </a:p>
          <a:p>
            <a:pPr algn="l" marL="294465" indent="-147233" lvl="1">
              <a:lnSpc>
                <a:spcPts val="1909"/>
              </a:lnSpc>
              <a:buFont typeface="Arial"/>
              <a:buChar char="•"/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4619815" y="5240575"/>
            <a:ext cx="23358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PRODUCT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714750" y="885825"/>
            <a:ext cx="108585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CONTENT STRATEGY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11474862" y="5205927"/>
            <a:ext cx="2335882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COMMUNITY AND IMPACT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11352495" y="5897087"/>
            <a:ext cx="2335882" cy="24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GIRLS’ STORIES, SCHOOL PROGRAMMES, PAD BANKS, WOMEN’S EMPOWERMENT, FARMER CONNECTIONS, AND PARTNERSHIP RESULTS.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697151" y="4466500"/>
            <a:ext cx="23358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CONVERSION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697151" y="4925605"/>
            <a:ext cx="2335882" cy="24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PRICES, WHERE TO BUY, ORDER INSTRUCTIONS, BUNDLE OFFERS, RESELLER LOCATIONS, AND PARTNERSHIP CALLS TO ACTION.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Freeform 57" id="57"/>
          <p:cNvSpPr/>
          <p:nvPr/>
        </p:nvSpPr>
        <p:spPr>
          <a:xfrm flipH="false" flipV="false" rot="5400000">
            <a:off x="8842983" y="7956870"/>
            <a:ext cx="665593" cy="2698215"/>
          </a:xfrm>
          <a:custGeom>
            <a:avLst/>
            <a:gdLst/>
            <a:ahLst/>
            <a:cxnLst/>
            <a:rect r="r" b="b" t="t" l="l"/>
            <a:pathLst>
              <a:path h="2698215" w="665593">
                <a:moveTo>
                  <a:pt x="0" y="0"/>
                </a:moveTo>
                <a:lnTo>
                  <a:pt x="665593" y="0"/>
                </a:lnTo>
                <a:lnTo>
                  <a:pt x="665593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7826672" y="5301980"/>
            <a:ext cx="2698215" cy="3861701"/>
            <a:chOff x="0" y="0"/>
            <a:chExt cx="698680" cy="99995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8680" cy="999955"/>
            </a:xfrm>
            <a:custGeom>
              <a:avLst/>
              <a:gdLst/>
              <a:ahLst/>
              <a:cxnLst/>
              <a:rect r="r" b="b" t="t" l="l"/>
              <a:pathLst>
                <a:path h="999955" w="698680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7705372" y="4352550"/>
            <a:ext cx="2940815" cy="1879860"/>
          </a:xfrm>
          <a:custGeom>
            <a:avLst/>
            <a:gdLst/>
            <a:ahLst/>
            <a:cxnLst/>
            <a:rect r="r" b="b" t="t" l="l"/>
            <a:pathLst>
              <a:path h="1879860" w="2940815">
                <a:moveTo>
                  <a:pt x="0" y="0"/>
                </a:moveTo>
                <a:lnTo>
                  <a:pt x="2940815" y="0"/>
                </a:lnTo>
                <a:lnTo>
                  <a:pt x="2940815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8960685" y="4587912"/>
            <a:ext cx="430189" cy="428625"/>
          </a:xfrm>
          <a:custGeom>
            <a:avLst/>
            <a:gdLst/>
            <a:ahLst/>
            <a:cxnLst/>
            <a:rect r="r" b="b" t="t" l="l"/>
            <a:pathLst>
              <a:path h="428625" w="430189">
                <a:moveTo>
                  <a:pt x="0" y="0"/>
                </a:moveTo>
                <a:lnTo>
                  <a:pt x="430189" y="0"/>
                </a:lnTo>
                <a:lnTo>
                  <a:pt x="430189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3" id="63"/>
          <p:cNvSpPr txBox="true"/>
          <p:nvPr/>
        </p:nvSpPr>
        <p:spPr>
          <a:xfrm rot="0">
            <a:off x="8170622" y="6231099"/>
            <a:ext cx="1952956" cy="302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BANANA AND PLANTAIN FIBRES, AGRICULTURAL WASTE, BIODEGRADABILI-TY ,CLAIMS, AND RESPONSIBLE DISPOSAL.</a:t>
            </a:r>
          </a:p>
          <a:p>
            <a:pPr algn="l">
              <a:lnSpc>
                <a:spcPts val="2152"/>
              </a:lnSpc>
            </a:pPr>
          </a:p>
        </p:txBody>
      </p:sp>
      <p:sp>
        <p:nvSpPr>
          <p:cNvPr name="TextBox 64" id="64"/>
          <p:cNvSpPr txBox="true"/>
          <p:nvPr/>
        </p:nvSpPr>
        <p:spPr>
          <a:xfrm rot="0">
            <a:off x="8170622" y="5897087"/>
            <a:ext cx="23358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SUSTAINABILITY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31780" y="9486900"/>
            <a:ext cx="18288000" cy="861523"/>
            <a:chOff x="0" y="0"/>
            <a:chExt cx="4816593" cy="22690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16592" cy="226903"/>
            </a:xfrm>
            <a:custGeom>
              <a:avLst/>
              <a:gdLst/>
              <a:ahLst/>
              <a:cxnLst/>
              <a:rect r="r" b="b" t="t" l="l"/>
              <a:pathLst>
                <a:path h="22690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6903"/>
                  </a:lnTo>
                  <a:lnTo>
                    <a:pt x="0" y="226903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4816593" cy="293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true" flipV="true" rot="0">
            <a:off x="31780" y="0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2846242" y="1733621"/>
                </a:moveTo>
                <a:lnTo>
                  <a:pt x="0" y="1733621"/>
                </a:lnTo>
                <a:lnTo>
                  <a:pt x="0" y="0"/>
                </a:lnTo>
                <a:lnTo>
                  <a:pt x="2846242" y="0"/>
                </a:lnTo>
                <a:lnTo>
                  <a:pt x="2846242" y="1733621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6355" y="1785070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9985877"/>
          </a:xfrm>
          <a:custGeom>
            <a:avLst/>
            <a:gdLst/>
            <a:ahLst/>
            <a:cxnLst/>
            <a:rect r="r" b="b" t="t" l="l"/>
            <a:pathLst>
              <a:path h="9985877" w="18288000">
                <a:moveTo>
                  <a:pt x="0" y="0"/>
                </a:moveTo>
                <a:lnTo>
                  <a:pt x="18288000" y="0"/>
                </a:lnTo>
                <a:lnTo>
                  <a:pt x="18288000" y="9985877"/>
                </a:lnTo>
                <a:lnTo>
                  <a:pt x="0" y="9985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6" t="0" r="-2168" b="-26212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3035" y="4370580"/>
            <a:ext cx="4195333" cy="3155501"/>
            <a:chOff x="0" y="0"/>
            <a:chExt cx="1104944" cy="8310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944" cy="831078"/>
            </a:xfrm>
            <a:custGeom>
              <a:avLst/>
              <a:gdLst/>
              <a:ahLst/>
              <a:cxnLst/>
              <a:rect r="r" b="b" t="t" l="l"/>
              <a:pathLst>
                <a:path h="831078" w="1104944">
                  <a:moveTo>
                    <a:pt x="27680" y="0"/>
                  </a:moveTo>
                  <a:lnTo>
                    <a:pt x="1077263" y="0"/>
                  </a:lnTo>
                  <a:cubicBezTo>
                    <a:pt x="1084605" y="0"/>
                    <a:pt x="1091645" y="2916"/>
                    <a:pt x="1096836" y="8107"/>
                  </a:cubicBezTo>
                  <a:cubicBezTo>
                    <a:pt x="1102027" y="13299"/>
                    <a:pt x="1104944" y="20339"/>
                    <a:pt x="1104944" y="27680"/>
                  </a:cubicBezTo>
                  <a:lnTo>
                    <a:pt x="1104944" y="803398"/>
                  </a:lnTo>
                  <a:cubicBezTo>
                    <a:pt x="1104944" y="810739"/>
                    <a:pt x="1102027" y="817780"/>
                    <a:pt x="1096836" y="822971"/>
                  </a:cubicBezTo>
                  <a:cubicBezTo>
                    <a:pt x="1091645" y="828162"/>
                    <a:pt x="1084605" y="831078"/>
                    <a:pt x="1077263" y="831078"/>
                  </a:cubicBezTo>
                  <a:lnTo>
                    <a:pt x="27680" y="831078"/>
                  </a:lnTo>
                  <a:cubicBezTo>
                    <a:pt x="20339" y="831078"/>
                    <a:pt x="13299" y="828162"/>
                    <a:pt x="8107" y="822971"/>
                  </a:cubicBezTo>
                  <a:cubicBezTo>
                    <a:pt x="2916" y="817780"/>
                    <a:pt x="0" y="810739"/>
                    <a:pt x="0" y="803398"/>
                  </a:cubicBezTo>
                  <a:lnTo>
                    <a:pt x="0" y="27680"/>
                  </a:lnTo>
                  <a:cubicBezTo>
                    <a:pt x="0" y="20339"/>
                    <a:pt x="2916" y="13299"/>
                    <a:pt x="8107" y="8107"/>
                  </a:cubicBezTo>
                  <a:cubicBezTo>
                    <a:pt x="13299" y="2916"/>
                    <a:pt x="20339" y="0"/>
                    <a:pt x="276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04944" cy="812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32079" y="3597659"/>
            <a:ext cx="4449164" cy="1545841"/>
          </a:xfrm>
          <a:custGeom>
            <a:avLst/>
            <a:gdLst/>
            <a:ahLst/>
            <a:cxnLst/>
            <a:rect r="r" b="b" t="t" l="l"/>
            <a:pathLst>
              <a:path h="1545841" w="4449164">
                <a:moveTo>
                  <a:pt x="0" y="0"/>
                </a:moveTo>
                <a:lnTo>
                  <a:pt x="4449164" y="0"/>
                </a:lnTo>
                <a:lnTo>
                  <a:pt x="4449164" y="1545841"/>
                </a:lnTo>
                <a:lnTo>
                  <a:pt x="0" y="1545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046333" y="4370580"/>
            <a:ext cx="4195333" cy="3155501"/>
            <a:chOff x="0" y="0"/>
            <a:chExt cx="1104944" cy="8310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4944" cy="831078"/>
            </a:xfrm>
            <a:custGeom>
              <a:avLst/>
              <a:gdLst/>
              <a:ahLst/>
              <a:cxnLst/>
              <a:rect r="r" b="b" t="t" l="l"/>
              <a:pathLst>
                <a:path h="831078" w="1104944">
                  <a:moveTo>
                    <a:pt x="27680" y="0"/>
                  </a:moveTo>
                  <a:lnTo>
                    <a:pt x="1077263" y="0"/>
                  </a:lnTo>
                  <a:cubicBezTo>
                    <a:pt x="1084605" y="0"/>
                    <a:pt x="1091645" y="2916"/>
                    <a:pt x="1096836" y="8107"/>
                  </a:cubicBezTo>
                  <a:cubicBezTo>
                    <a:pt x="1102027" y="13299"/>
                    <a:pt x="1104944" y="20339"/>
                    <a:pt x="1104944" y="27680"/>
                  </a:cubicBezTo>
                  <a:lnTo>
                    <a:pt x="1104944" y="803398"/>
                  </a:lnTo>
                  <a:cubicBezTo>
                    <a:pt x="1104944" y="810739"/>
                    <a:pt x="1102027" y="817780"/>
                    <a:pt x="1096836" y="822971"/>
                  </a:cubicBezTo>
                  <a:cubicBezTo>
                    <a:pt x="1091645" y="828162"/>
                    <a:pt x="1084605" y="831078"/>
                    <a:pt x="1077263" y="831078"/>
                  </a:cubicBezTo>
                  <a:lnTo>
                    <a:pt x="27680" y="831078"/>
                  </a:lnTo>
                  <a:cubicBezTo>
                    <a:pt x="20339" y="831078"/>
                    <a:pt x="13299" y="828162"/>
                    <a:pt x="8107" y="822971"/>
                  </a:cubicBezTo>
                  <a:cubicBezTo>
                    <a:pt x="2916" y="817780"/>
                    <a:pt x="0" y="810739"/>
                    <a:pt x="0" y="803398"/>
                  </a:cubicBezTo>
                  <a:lnTo>
                    <a:pt x="0" y="27680"/>
                  </a:lnTo>
                  <a:cubicBezTo>
                    <a:pt x="0" y="20339"/>
                    <a:pt x="2916" y="13299"/>
                    <a:pt x="8107" y="8107"/>
                  </a:cubicBezTo>
                  <a:cubicBezTo>
                    <a:pt x="13299" y="2916"/>
                    <a:pt x="20339" y="0"/>
                    <a:pt x="276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104944" cy="812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919418" y="3597659"/>
            <a:ext cx="4449164" cy="1545841"/>
          </a:xfrm>
          <a:custGeom>
            <a:avLst/>
            <a:gdLst/>
            <a:ahLst/>
            <a:cxnLst/>
            <a:rect r="r" b="b" t="t" l="l"/>
            <a:pathLst>
              <a:path h="1545841" w="4449164">
                <a:moveTo>
                  <a:pt x="0" y="0"/>
                </a:moveTo>
                <a:lnTo>
                  <a:pt x="4449164" y="0"/>
                </a:lnTo>
                <a:lnTo>
                  <a:pt x="4449164" y="1545841"/>
                </a:lnTo>
                <a:lnTo>
                  <a:pt x="0" y="1545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130582" y="4370580"/>
            <a:ext cx="4195333" cy="3155501"/>
            <a:chOff x="0" y="0"/>
            <a:chExt cx="1104944" cy="8310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4944" cy="831078"/>
            </a:xfrm>
            <a:custGeom>
              <a:avLst/>
              <a:gdLst/>
              <a:ahLst/>
              <a:cxnLst/>
              <a:rect r="r" b="b" t="t" l="l"/>
              <a:pathLst>
                <a:path h="831078" w="1104944">
                  <a:moveTo>
                    <a:pt x="27680" y="0"/>
                  </a:moveTo>
                  <a:lnTo>
                    <a:pt x="1077263" y="0"/>
                  </a:lnTo>
                  <a:cubicBezTo>
                    <a:pt x="1084605" y="0"/>
                    <a:pt x="1091645" y="2916"/>
                    <a:pt x="1096836" y="8107"/>
                  </a:cubicBezTo>
                  <a:cubicBezTo>
                    <a:pt x="1102027" y="13299"/>
                    <a:pt x="1104944" y="20339"/>
                    <a:pt x="1104944" y="27680"/>
                  </a:cubicBezTo>
                  <a:lnTo>
                    <a:pt x="1104944" y="803398"/>
                  </a:lnTo>
                  <a:cubicBezTo>
                    <a:pt x="1104944" y="810739"/>
                    <a:pt x="1102027" y="817780"/>
                    <a:pt x="1096836" y="822971"/>
                  </a:cubicBezTo>
                  <a:cubicBezTo>
                    <a:pt x="1091645" y="828162"/>
                    <a:pt x="1084605" y="831078"/>
                    <a:pt x="1077263" y="831078"/>
                  </a:cubicBezTo>
                  <a:lnTo>
                    <a:pt x="27680" y="831078"/>
                  </a:lnTo>
                  <a:cubicBezTo>
                    <a:pt x="20339" y="831078"/>
                    <a:pt x="13299" y="828162"/>
                    <a:pt x="8107" y="822971"/>
                  </a:cubicBezTo>
                  <a:cubicBezTo>
                    <a:pt x="2916" y="817780"/>
                    <a:pt x="0" y="810739"/>
                    <a:pt x="0" y="803398"/>
                  </a:cubicBezTo>
                  <a:lnTo>
                    <a:pt x="0" y="27680"/>
                  </a:lnTo>
                  <a:cubicBezTo>
                    <a:pt x="0" y="20339"/>
                    <a:pt x="2916" y="13299"/>
                    <a:pt x="8107" y="8107"/>
                  </a:cubicBezTo>
                  <a:cubicBezTo>
                    <a:pt x="13299" y="2916"/>
                    <a:pt x="20339" y="0"/>
                    <a:pt x="276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1104944" cy="812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006757" y="3597659"/>
            <a:ext cx="4449164" cy="1545841"/>
          </a:xfrm>
          <a:custGeom>
            <a:avLst/>
            <a:gdLst/>
            <a:ahLst/>
            <a:cxnLst/>
            <a:rect r="r" b="b" t="t" l="l"/>
            <a:pathLst>
              <a:path h="1545841" w="4449164">
                <a:moveTo>
                  <a:pt x="0" y="0"/>
                </a:moveTo>
                <a:lnTo>
                  <a:pt x="4449164" y="0"/>
                </a:lnTo>
                <a:lnTo>
                  <a:pt x="4449164" y="1545841"/>
                </a:lnTo>
                <a:lnTo>
                  <a:pt x="0" y="15458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323854" y="4077210"/>
            <a:ext cx="586740" cy="586740"/>
          </a:xfrm>
          <a:custGeom>
            <a:avLst/>
            <a:gdLst/>
            <a:ahLst/>
            <a:cxnLst/>
            <a:rect r="r" b="b" t="t" l="l"/>
            <a:pathLst>
              <a:path h="586740" w="586740">
                <a:moveTo>
                  <a:pt x="0" y="0"/>
                </a:moveTo>
                <a:lnTo>
                  <a:pt x="586740" y="0"/>
                </a:lnTo>
                <a:lnTo>
                  <a:pt x="586740" y="586740"/>
                </a:lnTo>
                <a:lnTo>
                  <a:pt x="0" y="58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48657" y="4143446"/>
            <a:ext cx="417651" cy="454268"/>
          </a:xfrm>
          <a:custGeom>
            <a:avLst/>
            <a:gdLst/>
            <a:ahLst/>
            <a:cxnLst/>
            <a:rect r="r" b="b" t="t" l="l"/>
            <a:pathLst>
              <a:path h="454268" w="417651">
                <a:moveTo>
                  <a:pt x="0" y="0"/>
                </a:moveTo>
                <a:lnTo>
                  <a:pt x="417651" y="0"/>
                </a:lnTo>
                <a:lnTo>
                  <a:pt x="417651" y="454268"/>
                </a:lnTo>
                <a:lnTo>
                  <a:pt x="0" y="454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97" y="0"/>
            <a:ext cx="2904997" cy="1728925"/>
          </a:xfrm>
          <a:custGeom>
            <a:avLst/>
            <a:gdLst/>
            <a:ahLst/>
            <a:cxnLst/>
            <a:rect r="r" b="b" t="t" l="l"/>
            <a:pathLst>
              <a:path h="1728925" w="2904997">
                <a:moveTo>
                  <a:pt x="0" y="0"/>
                </a:moveTo>
                <a:lnTo>
                  <a:pt x="2904997" y="0"/>
                </a:lnTo>
                <a:lnTo>
                  <a:pt x="2904997" y="1728925"/>
                </a:lnTo>
                <a:lnTo>
                  <a:pt x="0" y="17289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41757" y="8543543"/>
            <a:ext cx="2846243" cy="1733621"/>
          </a:xfrm>
          <a:custGeom>
            <a:avLst/>
            <a:gdLst/>
            <a:ahLst/>
            <a:cxnLst/>
            <a:rect r="r" b="b" t="t" l="l"/>
            <a:pathLst>
              <a:path h="1733621" w="2846243">
                <a:moveTo>
                  <a:pt x="0" y="0"/>
                </a:moveTo>
                <a:lnTo>
                  <a:pt x="2846243" y="0"/>
                </a:lnTo>
                <a:lnTo>
                  <a:pt x="2846243" y="1733620"/>
                </a:lnTo>
                <a:lnTo>
                  <a:pt x="0" y="17336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535360" y="4110082"/>
            <a:ext cx="520995" cy="520995"/>
          </a:xfrm>
          <a:custGeom>
            <a:avLst/>
            <a:gdLst/>
            <a:ahLst/>
            <a:cxnLst/>
            <a:rect r="r" b="b" t="t" l="l"/>
            <a:pathLst>
              <a:path h="520995" w="520995">
                <a:moveTo>
                  <a:pt x="0" y="0"/>
                </a:moveTo>
                <a:lnTo>
                  <a:pt x="520994" y="0"/>
                </a:lnTo>
                <a:lnTo>
                  <a:pt x="520994" y="520995"/>
                </a:lnTo>
                <a:lnTo>
                  <a:pt x="0" y="520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652783" y="1255280"/>
            <a:ext cx="9121596" cy="102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0"/>
              </a:lnSpc>
            </a:pPr>
            <a:r>
              <a:rPr lang="en-US" sz="306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PARTNERSHIP &amp; COMMUNITY GROWTH</a:t>
            </a:r>
          </a:p>
          <a:p>
            <a:pPr algn="ctr">
              <a:lnSpc>
                <a:spcPts val="373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293565" y="4138657"/>
            <a:ext cx="2718434" cy="56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SCHOOLS</a:t>
            </a:r>
          </a:p>
          <a:p>
            <a:pPr algn="ctr">
              <a:lnSpc>
                <a:spcPts val="210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247308" y="4105785"/>
            <a:ext cx="3121274" cy="96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NGOs / ORGANISATIONS</a:t>
            </a:r>
          </a:p>
          <a:p>
            <a:pPr algn="ctr">
              <a:lnSpc>
                <a:spcPts val="299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454557" y="3995295"/>
            <a:ext cx="2718434" cy="84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RETAIL / CORPORATE</a:t>
            </a:r>
          </a:p>
          <a:p>
            <a:pPr algn="ctr">
              <a:lnSpc>
                <a:spcPts val="21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495426" y="5369827"/>
            <a:ext cx="3122470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Menstrual-health education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Product access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Bulk supply opportunities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534425" y="5369827"/>
            <a:ext cx="321915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Programme partnerships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Community outreach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Impact stories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2570573" y="5684152"/>
            <a:ext cx="3602419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Retail distribution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CSR initiatives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Bulk purchase &amp; referral partnerships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241615" y="8743950"/>
            <a:ext cx="6677804" cy="1028700"/>
            <a:chOff x="0" y="0"/>
            <a:chExt cx="1758763" cy="2709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58763" cy="270933"/>
            </a:xfrm>
            <a:custGeom>
              <a:avLst/>
              <a:gdLst/>
              <a:ahLst/>
              <a:cxnLst/>
              <a:rect r="r" b="b" t="t" l="l"/>
              <a:pathLst>
                <a:path h="270933" w="1758763">
                  <a:moveTo>
                    <a:pt x="0" y="0"/>
                  </a:moveTo>
                  <a:lnTo>
                    <a:pt x="1758763" y="0"/>
                  </a:lnTo>
                  <a:lnTo>
                    <a:pt x="175876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A396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758763" cy="337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6296" y="3010454"/>
            <a:ext cx="3373534" cy="4266093"/>
            <a:chOff x="0" y="0"/>
            <a:chExt cx="888503" cy="1123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8503" cy="1123580"/>
            </a:xfrm>
            <a:custGeom>
              <a:avLst/>
              <a:gdLst/>
              <a:ahLst/>
              <a:cxnLst/>
              <a:rect r="r" b="b" t="t" l="l"/>
              <a:pathLst>
                <a:path h="1123580" w="888503">
                  <a:moveTo>
                    <a:pt x="0" y="0"/>
                  </a:moveTo>
                  <a:lnTo>
                    <a:pt x="888503" y="0"/>
                  </a:lnTo>
                  <a:lnTo>
                    <a:pt x="888503" y="1123580"/>
                  </a:lnTo>
                  <a:lnTo>
                    <a:pt x="0" y="11235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888503" cy="1104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1683" y="3376840"/>
            <a:ext cx="3602223" cy="810294"/>
            <a:chOff x="0" y="0"/>
            <a:chExt cx="1098171" cy="2470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8171" cy="247026"/>
            </a:xfrm>
            <a:custGeom>
              <a:avLst/>
              <a:gdLst/>
              <a:ahLst/>
              <a:cxnLst/>
              <a:rect r="r" b="b" t="t" l="l"/>
              <a:pathLst>
                <a:path h="247026" w="1098171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19050"/>
              <a:ext cx="844171" cy="227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23083" y="3517192"/>
            <a:ext cx="203766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MONTH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5993" y="4403639"/>
            <a:ext cx="2534140" cy="150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Digital audit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Improve profiles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Optimise WhatsApp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Set KPI baseline</a:t>
            </a:r>
          </a:p>
          <a:p>
            <a:pPr algn="ctr">
              <a:lnSpc>
                <a:spcPts val="252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5667390" y="3010454"/>
            <a:ext cx="3373534" cy="4266093"/>
            <a:chOff x="0" y="0"/>
            <a:chExt cx="888503" cy="11235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8503" cy="1123580"/>
            </a:xfrm>
            <a:custGeom>
              <a:avLst/>
              <a:gdLst/>
              <a:ahLst/>
              <a:cxnLst/>
              <a:rect r="r" b="b" t="t" l="l"/>
              <a:pathLst>
                <a:path h="1123580" w="888503">
                  <a:moveTo>
                    <a:pt x="0" y="0"/>
                  </a:moveTo>
                  <a:lnTo>
                    <a:pt x="888503" y="0"/>
                  </a:lnTo>
                  <a:lnTo>
                    <a:pt x="888503" y="1123580"/>
                  </a:lnTo>
                  <a:lnTo>
                    <a:pt x="0" y="11235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888503" cy="1104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22778" y="3376840"/>
            <a:ext cx="3602223" cy="810294"/>
            <a:chOff x="0" y="0"/>
            <a:chExt cx="1098171" cy="2470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8171" cy="247026"/>
            </a:xfrm>
            <a:custGeom>
              <a:avLst/>
              <a:gdLst/>
              <a:ahLst/>
              <a:cxnLst/>
              <a:rect r="r" b="b" t="t" l="l"/>
              <a:pathLst>
                <a:path h="247026" w="1098171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ADC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19050"/>
              <a:ext cx="844171" cy="227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50780" y="3517192"/>
            <a:ext cx="203766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MONTH 2 -3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87087" y="4403639"/>
            <a:ext cx="2534140" cy="150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Launch content pillars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Run awareness tests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Launch campaign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Build community</a:t>
            </a:r>
          </a:p>
          <a:p>
            <a:pPr algn="ctr">
              <a:lnSpc>
                <a:spcPts val="2520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9795086" y="3010454"/>
            <a:ext cx="3373534" cy="4266093"/>
            <a:chOff x="0" y="0"/>
            <a:chExt cx="888503" cy="11235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8503" cy="1123580"/>
            </a:xfrm>
            <a:custGeom>
              <a:avLst/>
              <a:gdLst/>
              <a:ahLst/>
              <a:cxnLst/>
              <a:rect r="r" b="b" t="t" l="l"/>
              <a:pathLst>
                <a:path h="1123580" w="888503">
                  <a:moveTo>
                    <a:pt x="0" y="0"/>
                  </a:moveTo>
                  <a:lnTo>
                    <a:pt x="888503" y="0"/>
                  </a:lnTo>
                  <a:lnTo>
                    <a:pt x="888503" y="1123580"/>
                  </a:lnTo>
                  <a:lnTo>
                    <a:pt x="0" y="11235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888503" cy="1104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50474" y="3376840"/>
            <a:ext cx="3602223" cy="810294"/>
            <a:chOff x="0" y="0"/>
            <a:chExt cx="1098171" cy="2470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8171" cy="247026"/>
            </a:xfrm>
            <a:custGeom>
              <a:avLst/>
              <a:gdLst/>
              <a:ahLst/>
              <a:cxnLst/>
              <a:rect r="r" b="b" t="t" l="l"/>
              <a:pathLst>
                <a:path h="247026" w="1098171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77800" y="19050"/>
              <a:ext cx="844171" cy="227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374424" y="3517192"/>
            <a:ext cx="2037669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MONTH 4-5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922782" y="3010454"/>
            <a:ext cx="3373534" cy="4266093"/>
            <a:chOff x="0" y="0"/>
            <a:chExt cx="888503" cy="11235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8503" cy="1123580"/>
            </a:xfrm>
            <a:custGeom>
              <a:avLst/>
              <a:gdLst/>
              <a:ahLst/>
              <a:cxnLst/>
              <a:rect r="r" b="b" t="t" l="l"/>
              <a:pathLst>
                <a:path h="1123580" w="888503">
                  <a:moveTo>
                    <a:pt x="0" y="0"/>
                  </a:moveTo>
                  <a:lnTo>
                    <a:pt x="888503" y="0"/>
                  </a:lnTo>
                  <a:lnTo>
                    <a:pt x="888503" y="1123580"/>
                  </a:lnTo>
                  <a:lnTo>
                    <a:pt x="0" y="11235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888503" cy="1104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378170" y="3376840"/>
            <a:ext cx="3602223" cy="810294"/>
            <a:chOff x="0" y="0"/>
            <a:chExt cx="1098171" cy="2470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8171" cy="247026"/>
            </a:xfrm>
            <a:custGeom>
              <a:avLst/>
              <a:gdLst/>
              <a:ahLst/>
              <a:cxnLst/>
              <a:rect r="r" b="b" t="t" l="l"/>
              <a:pathLst>
                <a:path h="247026" w="1098171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99C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77800" y="19050"/>
              <a:ext cx="844171" cy="227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594777" y="3517192"/>
            <a:ext cx="2385616" cy="30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b="true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MONTH 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342480" y="4403639"/>
            <a:ext cx="2534140" cy="150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Review results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Identify winners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Fix weak areas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Scale what works</a:t>
            </a:r>
          </a:p>
          <a:p>
            <a:pPr algn="ctr">
              <a:lnSpc>
                <a:spcPts val="2520"/>
              </a:lnSpc>
            </a:pPr>
          </a:p>
        </p:txBody>
      </p:sp>
      <p:sp>
        <p:nvSpPr>
          <p:cNvPr name="AutoShape 33" id="33"/>
          <p:cNvSpPr/>
          <p:nvPr/>
        </p:nvSpPr>
        <p:spPr>
          <a:xfrm flipV="true">
            <a:off x="8996985" y="6342380"/>
            <a:ext cx="12364593" cy="0"/>
          </a:xfrm>
          <a:prstGeom prst="line">
            <a:avLst/>
          </a:prstGeom>
          <a:ln cap="flat" w="381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3083145" y="7740461"/>
            <a:ext cx="279835" cy="2798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14240" y="7740461"/>
            <a:ext cx="279835" cy="2798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41936" y="7740461"/>
            <a:ext cx="279835" cy="279835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418325" y="7740461"/>
            <a:ext cx="279835" cy="279835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5698159" y="8229600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-1835979" y="-1485346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2254595" y="8778813"/>
            <a:ext cx="1076398" cy="958973"/>
          </a:xfrm>
          <a:custGeom>
            <a:avLst/>
            <a:gdLst/>
            <a:ahLst/>
            <a:cxnLst/>
            <a:rect r="r" b="b" t="t" l="l"/>
            <a:pathLst>
              <a:path h="958973" w="1076398">
                <a:moveTo>
                  <a:pt x="0" y="0"/>
                </a:moveTo>
                <a:lnTo>
                  <a:pt x="1076399" y="0"/>
                </a:lnTo>
                <a:lnTo>
                  <a:pt x="1076399" y="958974"/>
                </a:lnTo>
                <a:lnTo>
                  <a:pt x="0" y="958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0004935" y="4480560"/>
            <a:ext cx="2534140" cy="149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Lead generation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WhatsApp conversion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Partnership outreach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Retargeting  interest</a:t>
            </a:r>
          </a:p>
          <a:p>
            <a:pPr algn="ctr">
              <a:lnSpc>
                <a:spcPts val="2380"/>
              </a:lnSpc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2563589" y="1045245"/>
            <a:ext cx="13311994" cy="194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SIX-MONTH IMPLEMENTATION ROADMAP</a:t>
            </a:r>
          </a:p>
          <a:p>
            <a:pPr algn="ctr">
              <a:lnSpc>
                <a:spcPts val="14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BE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028700"/>
          <a:ext cx="10521365" cy="8661728"/>
        </p:xfrm>
        <a:graphic>
          <a:graphicData uri="http://schemas.openxmlformats.org/drawingml/2006/table">
            <a:tbl>
              <a:tblPr/>
              <a:tblGrid>
                <a:gridCol w="4839514"/>
                <a:gridCol w="5681851"/>
              </a:tblGrid>
              <a:tr h="8495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ricolage Grotesque Medium"/>
                          <a:ea typeface="Bricolage Grotesque Medium"/>
                          <a:cs typeface="Bricolage Grotesque Medium"/>
                          <a:sym typeface="Bricolage Grotesque Medium"/>
                        </a:rPr>
                        <a:t>ACTIVITY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5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Bricolage Grotesque Medium"/>
                          <a:ea typeface="Bricolage Grotesque Medium"/>
                          <a:cs typeface="Bricolage Grotesque Medium"/>
                          <a:sym typeface="Bricolage Grotesque Medium"/>
                        </a:rPr>
                        <a:t>BUDGET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5FF"/>
                    </a:solidFill>
                  </a:tcPr>
                </a:tc>
              </a:tr>
              <a:tr h="9458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Paid social / lead generation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GH₵ 8,000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7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Content production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GH₵ 3,500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58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Creators / influencers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GH₵ 3,000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73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Community activations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GH₵ 2,000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73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Google/Search + local discovery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GH₵ 1,000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7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WhatsApp/CRM optimisation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GH₵ 1,000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48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Contingency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GH₵ 1,500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55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</a:t>
                      </a:r>
                      <a:r>
                        <a:rPr lang="en-US" sz="29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GH₵20,000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1974797" y="2055429"/>
            <a:ext cx="6173794" cy="4788776"/>
            <a:chOff x="0" y="0"/>
            <a:chExt cx="1626020" cy="12612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6020" cy="1261241"/>
            </a:xfrm>
            <a:custGeom>
              <a:avLst/>
              <a:gdLst/>
              <a:ahLst/>
              <a:cxnLst/>
              <a:rect r="r" b="b" t="t" l="l"/>
              <a:pathLst>
                <a:path h="1261241" w="1626020">
                  <a:moveTo>
                    <a:pt x="0" y="0"/>
                  </a:moveTo>
                  <a:lnTo>
                    <a:pt x="1626020" y="0"/>
                  </a:lnTo>
                  <a:lnTo>
                    <a:pt x="1626020" y="1261241"/>
                  </a:lnTo>
                  <a:lnTo>
                    <a:pt x="0" y="1261241"/>
                  </a:ln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26020" cy="1318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14864" y="239264"/>
            <a:ext cx="12148840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BUDGET, ROI &amp; EXPECTED OUTCOMES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00922" y="2305589"/>
            <a:ext cx="5921546" cy="422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8"/>
              </a:lnSpc>
            </a:pPr>
            <a:r>
              <a:rPr lang="en-US" sz="2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GHS 40,000 Total Investment</a:t>
            </a:r>
          </a:p>
          <a:p>
            <a:pPr algn="ctr">
              <a:lnSpc>
                <a:spcPts val="3398"/>
              </a:lnSpc>
            </a:pPr>
            <a:r>
              <a:rPr lang="en-US" sz="2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3398"/>
              </a:lnSpc>
            </a:pPr>
            <a:r>
              <a:rPr lang="en-US" sz="2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5,000 Individual Packs + 150 Bulk Boxes</a:t>
            </a:r>
          </a:p>
          <a:p>
            <a:pPr algn="ctr">
              <a:lnSpc>
                <a:spcPts val="3398"/>
              </a:lnSpc>
            </a:pPr>
            <a:r>
              <a:rPr lang="en-US" sz="2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3398"/>
              </a:lnSpc>
            </a:pPr>
            <a:r>
              <a:rPr lang="en-US" sz="2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GHS 86,000 Projected Revenue</a:t>
            </a:r>
          </a:p>
          <a:p>
            <a:pPr algn="ctr">
              <a:lnSpc>
                <a:spcPts val="3398"/>
              </a:lnSpc>
            </a:pPr>
            <a:r>
              <a:rPr lang="en-US" sz="2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3398"/>
              </a:lnSpc>
            </a:pPr>
            <a:r>
              <a:rPr lang="en-US" sz="2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GHS 46,000 Revenue Surplus</a:t>
            </a:r>
          </a:p>
          <a:p>
            <a:pPr algn="ctr">
              <a:lnSpc>
                <a:spcPts val="3398"/>
              </a:lnSpc>
            </a:pPr>
            <a:r>
              <a:rPr lang="en-US" sz="2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3398"/>
              </a:lnSpc>
            </a:pPr>
          </a:p>
          <a:p>
            <a:pPr algn="ctr">
              <a:lnSpc>
                <a:spcPts val="3398"/>
              </a:lnSpc>
              <a:spcBef>
                <a:spcPct val="0"/>
              </a:spcBef>
            </a:pPr>
            <a:r>
              <a:rPr lang="en-US" sz="2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115% Projected Revenue-Based ROI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DAHT9f8v_Oc</dc:identifier>
  <dcterms:modified xsi:type="dcterms:W3CDTF">2011-08-01T06:04:30Z</dcterms:modified>
  <cp:revision>1</cp:revision>
  <dc:title>MARKETY STRATEGY</dc:title>
</cp:coreProperties>
</file>